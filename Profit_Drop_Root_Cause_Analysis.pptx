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charts/chart2.xml" ContentType="application/vnd.openxmlformats-officedocument.drawingml.chart+xml"/>
  <Override PartName="/ppt/charts/style2.xml" ContentType="application/vnd.ms-office.chartstyle+xml"/>
  <Override PartName="/ppt/charts/colors2.xml" ContentType="application/vnd.ms-office.chartcolorstyle+xml"/>
  <Override PartName="/ppt/charts/chart3.xml" ContentType="application/vnd.openxmlformats-officedocument.drawingml.chart+xml"/>
  <Override PartName="/ppt/charts/style3.xml" ContentType="application/vnd.ms-office.chartstyle+xml"/>
  <Override PartName="/ppt/charts/colors3.xml" ContentType="application/vnd.ms-office.chartcolorstyle+xml"/>
  <Override PartName="/ppt/charts/chart4.xml" ContentType="application/vnd.openxmlformats-officedocument.drawingml.chart+xml"/>
  <Override PartName="/ppt/charts/style4.xml" ContentType="application/vnd.ms-office.chartstyle+xml"/>
  <Override PartName="/ppt/charts/colors4.xml" ContentType="application/vnd.ms-office.chartcolorstyle+xml"/>
  <Override PartName="/ppt/charts/chart5.xml" ContentType="application/vnd.openxmlformats-officedocument.drawingml.chart+xml"/>
  <Override PartName="/ppt/charts/style5.xml" ContentType="application/vnd.ms-office.chartstyle+xml"/>
  <Override PartName="/ppt/charts/colors5.xml" ContentType="application/vnd.ms-office.chartcolorstyl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814" r:id="rId1"/>
  </p:sldMasterIdLst>
  <p:notesMasterIdLst>
    <p:notesMasterId r:id="rId15"/>
  </p:notesMasterIdLst>
  <p:sldIdLst>
    <p:sldId id="256" r:id="rId2"/>
    <p:sldId id="257" r:id="rId3"/>
    <p:sldId id="258" r:id="rId4"/>
    <p:sldId id="259" r:id="rId5"/>
    <p:sldId id="260" r:id="rId6"/>
    <p:sldId id="262" r:id="rId7"/>
    <p:sldId id="261" r:id="rId8"/>
    <p:sldId id="263" r:id="rId9"/>
    <p:sldId id="264" r:id="rId10"/>
    <p:sldId id="265" r:id="rId11"/>
    <p:sldId id="266" r:id="rId12"/>
    <p:sldId id="268" r:id="rId13"/>
    <p:sldId id="267" r:id="rId1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E9E5E1"/>
    <a:srgbClr val="DDD5D3"/>
    <a:srgbClr val="E8E3DF"/>
    <a:srgbClr val="EA4335"/>
    <a:srgbClr val="4285F4"/>
    <a:srgbClr val="FFFF00"/>
    <a:srgbClr val="000000"/>
    <a:srgbClr val="D9E7FD"/>
    <a:srgbClr val="94BAF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3B4B98B0-60AC-42C2-AFA5-B58CD77FA1E5}" styleName="Light Style 1 -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0E3FDE45-AF77-4B5C-9715-49D594BDF05E}" styleName="Light Style 1 - Accent 2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B301B821-A1FF-4177-AEE7-76D212191A09}" styleName="Medium Style 1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D7AC3CCA-C797-4891-BE02-D94E43425B78}" styleName="Medium Style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 w="12700" cmpd="sng">
              <a:solidFill>
                <a:schemeClr val="dk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dk1">
              <a:tint val="20000"/>
            </a:schemeClr>
          </a:solidFill>
        </a:fill>
      </a:tcStyle>
    </a:firstRow>
  </a:tblStyle>
  <a:tblStyle styleId="{5FD0F851-EC5A-4D38-B0AD-8093EC10F338}" styleName="Light Style 1 - Accent 5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  <a:tblStyle styleId="{9D7B26C5-4107-4FEC-AEDC-1716B250A1EF}" styleName="Light Style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E8034E78-7F5D-4C2E-B375-FC64B27BC917}" styleName="Dark Style 1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dk1">
              <a:tint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dk1">
              <a:tint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dk1">
              <a:tint val="6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000" autoAdjust="0"/>
    <p:restoredTop sz="94660"/>
  </p:normalViewPr>
  <p:slideViewPr>
    <p:cSldViewPr snapToGrid="0">
      <p:cViewPr>
        <p:scale>
          <a:sx n="66" d="100"/>
          <a:sy n="66" d="100"/>
        </p:scale>
        <p:origin x="1253" y="6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oleObject" Target="file:///D:\Project\Portfolio%20Project\Root%20Cause%20Analysis\Profit_Analysis_Data.xlsx" TargetMode="External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_rels/chart2.xml.rels><?xml version="1.0" encoding="UTF-8" standalone="yes"?>
<Relationships xmlns="http://schemas.openxmlformats.org/package/2006/relationships"><Relationship Id="rId3" Type="http://schemas.openxmlformats.org/officeDocument/2006/relationships/oleObject" Target="file:///D:\Project\Portfolio%20Project\Root%20Cause%20Analysis\Profit_Analysis_Data.xlsx" TargetMode="External"/><Relationship Id="rId2" Type="http://schemas.microsoft.com/office/2011/relationships/chartColorStyle" Target="colors2.xml"/><Relationship Id="rId1" Type="http://schemas.microsoft.com/office/2011/relationships/chartStyle" Target="style2.xml"/></Relationships>
</file>

<file path=ppt/charts/_rels/chart3.xml.rels><?xml version="1.0" encoding="UTF-8" standalone="yes"?>
<Relationships xmlns="http://schemas.openxmlformats.org/package/2006/relationships"><Relationship Id="rId3" Type="http://schemas.openxmlformats.org/officeDocument/2006/relationships/oleObject" Target="file:///D:\Project\Portfolio%20Project\Root%20Cause%20Analysis\Profit_Analysis_Data.xlsx" TargetMode="External"/><Relationship Id="rId2" Type="http://schemas.microsoft.com/office/2011/relationships/chartColorStyle" Target="colors3.xml"/><Relationship Id="rId1" Type="http://schemas.microsoft.com/office/2011/relationships/chartStyle" Target="style3.xml"/></Relationships>
</file>

<file path=ppt/charts/_rels/chart4.xml.rels><?xml version="1.0" encoding="UTF-8" standalone="yes"?>
<Relationships xmlns="http://schemas.openxmlformats.org/package/2006/relationships"><Relationship Id="rId3" Type="http://schemas.openxmlformats.org/officeDocument/2006/relationships/oleObject" Target="file:///D:\Project\Portfolio%20Project\Root%20Cause%20Analysis\Profit_Analysis_Data.xlsx" TargetMode="External"/><Relationship Id="rId2" Type="http://schemas.microsoft.com/office/2011/relationships/chartColorStyle" Target="colors4.xml"/><Relationship Id="rId1" Type="http://schemas.microsoft.com/office/2011/relationships/chartStyle" Target="style4.xml"/></Relationships>
</file>

<file path=ppt/charts/_rels/chart5.xml.rels><?xml version="1.0" encoding="UTF-8" standalone="yes"?>
<Relationships xmlns="http://schemas.openxmlformats.org/package/2006/relationships"><Relationship Id="rId3" Type="http://schemas.openxmlformats.org/officeDocument/2006/relationships/oleObject" Target="file:///D:\Project\Portfolio%20Project\Root%20Cause%20Analysis\Profit_Analysis_Data.xlsx" TargetMode="External"/><Relationship Id="rId2" Type="http://schemas.microsoft.com/office/2011/relationships/chartColorStyle" Target="colors5.xml"/><Relationship Id="rId1" Type="http://schemas.microsoft.com/office/2011/relationships/chartStyle" Target="style5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2128" b="1" i="0" u="none" strike="noStrike" kern="1200" spc="100" baseline="0">
                <a:solidFill>
                  <a:schemeClr val="lt1">
                    <a:lumMod val="95000"/>
                  </a:schemeClr>
                </a:solidFill>
                <a:effectLst>
                  <a:outerShdw blurRad="50800" dist="38100" dir="5400000" algn="t" rotWithShape="0">
                    <a:prstClr val="black">
                      <a:alpha val="40000"/>
                    </a:prstClr>
                  </a:outerShdw>
                </a:effectLst>
                <a:latin typeface="+mn-lt"/>
                <a:ea typeface="+mn-ea"/>
                <a:cs typeface="+mn-cs"/>
              </a:defRPr>
            </a:pPr>
            <a:r>
              <a:rPr lang="en-US"/>
              <a:t>Profit Per State 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2128" b="1" i="0" u="none" strike="noStrike" kern="1200" spc="100" baseline="0">
              <a:solidFill>
                <a:schemeClr val="lt1">
                  <a:lumMod val="95000"/>
                </a:schemeClr>
              </a:solidFill>
              <a:effectLst>
                <a:outerShdw blurRad="50800" dist="38100" dir="5400000" algn="t" rotWithShape="0">
                  <a:prstClr val="black">
                    <a:alpha val="40000"/>
                  </a:prstClr>
                </a:outerShdw>
              </a:effectLst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'Pivot Table '!$I$31</c:f>
              <c:strCache>
                <c:ptCount val="1"/>
                <c:pt idx="0">
                  <c:v>2016</c:v>
                </c:pt>
              </c:strCache>
            </c:strRef>
          </c:tx>
          <c:spPr>
            <a:gradFill rotWithShape="1">
              <a:gsLst>
                <a:gs pos="0">
                  <a:schemeClr val="accent1">
                    <a:satMod val="103000"/>
                    <a:lumMod val="102000"/>
                    <a:tint val="94000"/>
                  </a:schemeClr>
                </a:gs>
                <a:gs pos="50000">
                  <a:schemeClr val="accent1">
                    <a:satMod val="110000"/>
                    <a:lumMod val="100000"/>
                    <a:shade val="100000"/>
                  </a:schemeClr>
                </a:gs>
                <a:gs pos="100000">
                  <a:schemeClr val="accent1">
                    <a:lumMod val="99000"/>
                    <a:satMod val="120000"/>
                    <a:shade val="78000"/>
                  </a:schemeClr>
                </a:gs>
              </a:gsLst>
              <a:lin ang="5400000" scaled="0"/>
            </a:gradFill>
            <a:ln>
              <a:noFill/>
            </a:ln>
            <a:effectLst>
              <a:outerShdw blurRad="57150" dist="19050" dir="5400000" algn="ctr" rotWithShape="0">
                <a:srgbClr val="000000">
                  <a:alpha val="63000"/>
                </a:srgbClr>
              </a:outerShdw>
            </a:effectLst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000" b="1" i="0" u="none" strike="noStrike" kern="1200" baseline="0">
                    <a:solidFill>
                      <a:schemeClr val="bg1"/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>
                      <a:solidFill>
                        <a:schemeClr val="lt1">
                          <a:lumMod val="95000"/>
                          <a:alpha val="54000"/>
                        </a:schemeClr>
                      </a:solidFill>
                    </a:ln>
                    <a:effectLst/>
                  </c:spPr>
                </c15:leaderLines>
              </c:ext>
            </c:extLst>
          </c:dLbls>
          <c:cat>
            <c:strRef>
              <c:f>'Pivot Table '!$H$32:$H$34</c:f>
              <c:strCache>
                <c:ptCount val="3"/>
                <c:pt idx="0">
                  <c:v>Indiana</c:v>
                </c:pt>
                <c:pt idx="1">
                  <c:v>North Carolina</c:v>
                </c:pt>
                <c:pt idx="2">
                  <c:v>Virginia</c:v>
                </c:pt>
              </c:strCache>
            </c:strRef>
          </c:cat>
          <c:val>
            <c:numRef>
              <c:f>'Pivot Table '!$I$32:$I$34</c:f>
              <c:numCache>
                <c:formatCode>0.0,"K"</c:formatCode>
                <c:ptCount val="3"/>
                <c:pt idx="0">
                  <c:v>10385.133900000003</c:v>
                </c:pt>
                <c:pt idx="1">
                  <c:v>260.8410999999993</c:v>
                </c:pt>
                <c:pt idx="2">
                  <c:v>7851.4730000000018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C9BD-422F-876A-3F9907A06FBD}"/>
            </c:ext>
          </c:extLst>
        </c:ser>
        <c:ser>
          <c:idx val="1"/>
          <c:order val="1"/>
          <c:tx>
            <c:strRef>
              <c:f>'Pivot Table '!$J$31</c:f>
              <c:strCache>
                <c:ptCount val="1"/>
                <c:pt idx="0">
                  <c:v>2017</c:v>
                </c:pt>
              </c:strCache>
            </c:strRef>
          </c:tx>
          <c:spPr>
            <a:gradFill rotWithShape="1">
              <a:gsLst>
                <a:gs pos="0">
                  <a:schemeClr val="accent2">
                    <a:satMod val="103000"/>
                    <a:lumMod val="102000"/>
                    <a:tint val="94000"/>
                  </a:schemeClr>
                </a:gs>
                <a:gs pos="50000">
                  <a:schemeClr val="accent2">
                    <a:satMod val="110000"/>
                    <a:lumMod val="100000"/>
                    <a:shade val="100000"/>
                  </a:schemeClr>
                </a:gs>
                <a:gs pos="100000">
                  <a:schemeClr val="accent2">
                    <a:lumMod val="99000"/>
                    <a:satMod val="120000"/>
                    <a:shade val="78000"/>
                  </a:schemeClr>
                </a:gs>
              </a:gsLst>
              <a:lin ang="5400000" scaled="0"/>
            </a:gradFill>
            <a:ln>
              <a:noFill/>
            </a:ln>
            <a:effectLst>
              <a:outerShdw blurRad="57150" dist="19050" dir="5400000" algn="ctr" rotWithShape="0">
                <a:srgbClr val="000000">
                  <a:alpha val="63000"/>
                </a:srgbClr>
              </a:outerShdw>
            </a:effectLst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000" b="1" i="0" u="none" strike="noStrike" kern="1200" baseline="0">
                    <a:solidFill>
                      <a:schemeClr val="bg1"/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>
                      <a:solidFill>
                        <a:schemeClr val="lt1">
                          <a:lumMod val="95000"/>
                          <a:alpha val="54000"/>
                        </a:schemeClr>
                      </a:solidFill>
                    </a:ln>
                    <a:effectLst/>
                  </c:spPr>
                </c15:leaderLines>
              </c:ext>
            </c:extLst>
          </c:dLbls>
          <c:cat>
            <c:strRef>
              <c:f>'Pivot Table '!$H$32:$H$34</c:f>
              <c:strCache>
                <c:ptCount val="3"/>
                <c:pt idx="0">
                  <c:v>Indiana</c:v>
                </c:pt>
                <c:pt idx="1">
                  <c:v>North Carolina</c:v>
                </c:pt>
                <c:pt idx="2">
                  <c:v>Virginia</c:v>
                </c:pt>
              </c:strCache>
            </c:strRef>
          </c:cat>
          <c:val>
            <c:numRef>
              <c:f>'Pivot Table '!$J$32:$J$34</c:f>
              <c:numCache>
                <c:formatCode>0.0,"K"</c:formatCode>
                <c:ptCount val="3"/>
                <c:pt idx="0">
                  <c:v>5139.5257000000001</c:v>
                </c:pt>
                <c:pt idx="1">
                  <c:v>-5088.5334000000003</c:v>
                </c:pt>
                <c:pt idx="2">
                  <c:v>1806.0146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C9BD-422F-876A-3F9907A06FBD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269"/>
        <c:overlap val="-27"/>
        <c:axId val="1387630447"/>
        <c:axId val="1387629487"/>
      </c:barChart>
      <c:lineChart>
        <c:grouping val="standard"/>
        <c:varyColors val="0"/>
        <c:dLbls>
          <c:showLegendKey val="0"/>
          <c:showVal val="1"/>
          <c:showCatName val="0"/>
          <c:showSerName val="0"/>
          <c:showPercent val="0"/>
          <c:showBubbleSize val="0"/>
        </c:dLbls>
        <c:marker val="1"/>
        <c:smooth val="0"/>
        <c:axId val="10736848"/>
        <c:axId val="1662676607"/>
        <c:extLst>
          <c:ext xmlns:c15="http://schemas.microsoft.com/office/drawing/2012/chart" uri="{02D57815-91ED-43cb-92C2-25804820EDAC}">
            <c15:filteredLineSeries>
              <c15:ser>
                <c:idx val="2"/>
                <c:order val="2"/>
                <c:tx>
                  <c:strRef>
                    <c:extLst>
                      <c:ext uri="{02D57815-91ED-43cb-92C2-25804820EDAC}">
                        <c15:formulaRef>
                          <c15:sqref>'Pivot Table '!$K$31</c15:sqref>
                        </c15:formulaRef>
                      </c:ext>
                    </c:extLst>
                    <c:strCache>
                      <c:ptCount val="1"/>
                      <c:pt idx="0">
                        <c:v>Growth rate </c:v>
                      </c:pt>
                    </c:strCache>
                  </c:strRef>
                </c:tx>
                <c:spPr>
                  <a:ln w="34925" cap="rnd">
                    <a:solidFill>
                      <a:schemeClr val="accent3"/>
                    </a:solidFill>
                    <a:round/>
                  </a:ln>
                  <a:effectLst>
                    <a:outerShdw blurRad="57150" dist="19050" dir="5400000" algn="ctr" rotWithShape="0">
                      <a:srgbClr val="000000">
                        <a:alpha val="63000"/>
                      </a:srgbClr>
                    </a:outerShdw>
                  </a:effectLst>
                </c:spPr>
                <c:marker>
                  <c:symbol val="none"/>
                </c:marker>
                <c:dLbls>
                  <c:dLbl>
                    <c:idx val="1"/>
                    <c:layout>
                      <c:manualLayout>
                        <c:x val="-4.9999999999999947E-2"/>
                        <c:y val="-0.36111111111111116"/>
                      </c:manualLayout>
                    </c:layout>
                    <c:showLegendKey val="0"/>
                    <c:showVal val="1"/>
                    <c:showCatName val="0"/>
                    <c:showSerName val="0"/>
                    <c:showPercent val="0"/>
                    <c:showBubbleSize val="0"/>
                    <c:extLst>
                      <c:ext uri="{CE6537A1-D6FC-4f65-9D91-7224C49458BB}"/>
                      <c:ext xmlns:c16="http://schemas.microsoft.com/office/drawing/2014/chart" uri="{C3380CC4-5D6E-409C-BE32-E72D297353CC}">
                        <c16:uniqueId val="{00000002-C9BD-422F-876A-3F9907A06FBD}"/>
                      </c:ext>
                    </c:extLst>
                  </c:dLbl>
                  <c:spPr>
                    <a:solidFill>
                      <a:schemeClr val="lt1"/>
                    </a:solidFill>
                    <a:ln>
                      <a:noFill/>
                    </a:ln>
                    <a:effectLst/>
                  </c:spPr>
                  <c:txPr>
                    <a:bodyPr rot="0" spcFirstLastPara="1" vertOverflow="clip" horzOverflow="clip" vert="horz" wrap="square" lIns="38100" tIns="19050" rIns="38100" bIns="19050" anchor="ctr" anchorCtr="1">
                      <a:spAutoFit/>
                    </a:bodyPr>
                    <a:lstStyle/>
                    <a:p>
                      <a:pPr>
                        <a:defRPr sz="1197" b="0" i="0" u="none" strike="noStrike" kern="1200" baseline="0">
                          <a:solidFill>
                            <a:schemeClr val="dk1">
                              <a:lumMod val="65000"/>
                              <a:lumOff val="35000"/>
                            </a:schemeClr>
                          </a:solidFill>
                          <a:latin typeface="+mn-lt"/>
                          <a:ea typeface="+mn-ea"/>
                          <a:cs typeface="+mn-cs"/>
                        </a:defRPr>
                      </a:pPr>
                      <a:endParaRPr lang="en-US"/>
                    </a:p>
                  </c:txPr>
                  <c:showLegendKey val="0"/>
                  <c:showVal val="1"/>
                  <c:showCatName val="0"/>
                  <c:showSerName val="0"/>
                  <c:showPercent val="0"/>
                  <c:showBubbleSize val="0"/>
                  <c:showLeaderLines val="0"/>
                  <c:extLst>
                    <c:ext uri="{CE6537A1-D6FC-4f65-9D91-7224C49458BB}">
                      <c15:spPr xmlns:c15="http://schemas.microsoft.com/office/drawing/2012/chart">
                        <a:prstGeom prst="accentCallout2">
                          <a:avLst/>
                        </a:prstGeom>
                        <a:noFill/>
                        <a:ln>
                          <a:noFill/>
                        </a:ln>
                      </c15:spPr>
                      <c15:showLeaderLines val="1"/>
                      <c15:leaderLines>
                        <c:spPr>
                          <a:ln w="9525">
                            <a:solidFill>
                              <a:schemeClr val="lt1">
                                <a:lumMod val="95000"/>
                                <a:alpha val="54000"/>
                              </a:schemeClr>
                            </a:solidFill>
                          </a:ln>
                          <a:effectLst/>
                        </c:spPr>
                      </c15:leaderLines>
                    </c:ext>
                  </c:extLst>
                </c:dLbls>
                <c:cat>
                  <c:strRef>
                    <c:extLst>
                      <c:ext uri="{02D57815-91ED-43cb-92C2-25804820EDAC}">
                        <c15:formulaRef>
                          <c15:sqref>'Pivot Table '!$H$32:$H$34</c15:sqref>
                        </c15:formulaRef>
                      </c:ext>
                    </c:extLst>
                    <c:strCache>
                      <c:ptCount val="3"/>
                      <c:pt idx="0">
                        <c:v>Indiana</c:v>
                      </c:pt>
                      <c:pt idx="1">
                        <c:v>North Carolina</c:v>
                      </c:pt>
                      <c:pt idx="2">
                        <c:v>Virginia</c:v>
                      </c:pt>
                    </c:strCache>
                  </c:strRef>
                </c:cat>
                <c:val>
                  <c:numRef>
                    <c:extLst>
                      <c:ext uri="{02D57815-91ED-43cb-92C2-25804820EDAC}">
                        <c15:formulaRef>
                          <c15:sqref>'Pivot Table '!$K$32:$K$34</c15:sqref>
                        </c15:formulaRef>
                      </c:ext>
                    </c:extLst>
                    <c:numCache>
                      <c:formatCode>0%</c:formatCode>
                      <c:ptCount val="3"/>
                      <c:pt idx="0">
                        <c:v>-0.50510742090672522</c:v>
                      </c:pt>
                      <c:pt idx="1">
                        <c:v>-20.508173366850599</c:v>
                      </c:pt>
                      <c:pt idx="2">
                        <c:v>-0.76997760802336068</c:v>
                      </c:pt>
                    </c:numCache>
                  </c:numRef>
                </c:val>
                <c:smooth val="0"/>
                <c:extLst>
                  <c:ext xmlns:c16="http://schemas.microsoft.com/office/drawing/2014/chart" uri="{C3380CC4-5D6E-409C-BE32-E72D297353CC}">
                    <c16:uniqueId val="{00000003-C9BD-422F-876A-3F9907A06FBD}"/>
                  </c:ext>
                </c:extLst>
              </c15:ser>
            </c15:filteredLineSeries>
          </c:ext>
        </c:extLst>
      </c:lineChart>
      <c:catAx>
        <c:axId val="1387630447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12700" cap="flat" cmpd="sng" algn="ctr">
            <a:solidFill>
              <a:schemeClr val="lt1">
                <a:lumMod val="95000"/>
                <a:alpha val="54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lt1">
                    <a:lumMod val="8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387629487"/>
        <c:crosses val="autoZero"/>
        <c:auto val="1"/>
        <c:lblAlgn val="ctr"/>
        <c:lblOffset val="100"/>
        <c:noMultiLvlLbl val="0"/>
      </c:catAx>
      <c:valAx>
        <c:axId val="1387629487"/>
        <c:scaling>
          <c:orientation val="minMax"/>
        </c:scaling>
        <c:delete val="1"/>
        <c:axPos val="l"/>
        <c:numFmt formatCode="0.0,&quot;K&quot;" sourceLinked="1"/>
        <c:majorTickMark val="none"/>
        <c:minorTickMark val="none"/>
        <c:tickLblPos val="nextTo"/>
        <c:crossAx val="1387630447"/>
        <c:crosses val="autoZero"/>
        <c:crossBetween val="between"/>
      </c:valAx>
      <c:valAx>
        <c:axId val="1662676607"/>
        <c:scaling>
          <c:orientation val="minMax"/>
        </c:scaling>
        <c:delete val="1"/>
        <c:axPos val="r"/>
        <c:numFmt formatCode="0%" sourceLinked="1"/>
        <c:majorTickMark val="none"/>
        <c:minorTickMark val="none"/>
        <c:tickLblPos val="nextTo"/>
        <c:crossAx val="10736848"/>
        <c:crosses val="max"/>
        <c:crossBetween val="between"/>
      </c:valAx>
      <c:catAx>
        <c:axId val="10736848"/>
        <c:scaling>
          <c:orientation val="minMax"/>
        </c:scaling>
        <c:delete val="1"/>
        <c:axPos val="b"/>
        <c:numFmt formatCode="General" sourceLinked="1"/>
        <c:majorTickMark val="none"/>
        <c:minorTickMark val="none"/>
        <c:tickLblPos val="nextTo"/>
        <c:crossAx val="1662676607"/>
        <c:crosses val="autoZero"/>
        <c:auto val="1"/>
        <c:lblAlgn val="ctr"/>
        <c:lblOffset val="100"/>
        <c:noMultiLvlLbl val="0"/>
      </c:cat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lt1">
                  <a:lumMod val="8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</c:chart>
  <c:spPr>
    <a:gradFill flip="none" rotWithShape="1">
      <a:gsLst>
        <a:gs pos="0">
          <a:schemeClr val="dk1">
            <a:lumMod val="65000"/>
            <a:lumOff val="35000"/>
          </a:schemeClr>
        </a:gs>
        <a:gs pos="100000">
          <a:schemeClr val="dk1">
            <a:lumMod val="85000"/>
            <a:lumOff val="15000"/>
          </a:schemeClr>
        </a:gs>
      </a:gsLst>
      <a:path path="circle">
        <a:fillToRect l="50000" t="50000" r="50000" b="50000"/>
      </a:path>
      <a:tileRect/>
    </a:gradFill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2128" b="1" i="0" u="none" strike="noStrike" kern="1200" spc="100" baseline="0">
                <a:solidFill>
                  <a:schemeClr val="lt1">
                    <a:lumMod val="95000"/>
                  </a:schemeClr>
                </a:solidFill>
                <a:effectLst>
                  <a:outerShdw blurRad="50800" dist="38100" dir="5400000" algn="t" rotWithShape="0">
                    <a:prstClr val="black">
                      <a:alpha val="40000"/>
                    </a:prstClr>
                  </a:outerShdw>
                </a:effectLst>
                <a:latin typeface="+mn-lt"/>
                <a:ea typeface="+mn-ea"/>
                <a:cs typeface="+mn-cs"/>
              </a:defRPr>
            </a:pPr>
            <a:r>
              <a:rPr lang="en-US"/>
              <a:t>Profit Per State 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2128" b="1" i="0" u="none" strike="noStrike" kern="1200" spc="100" baseline="0">
              <a:solidFill>
                <a:schemeClr val="lt1">
                  <a:lumMod val="95000"/>
                </a:schemeClr>
              </a:solidFill>
              <a:effectLst>
                <a:outerShdw blurRad="50800" dist="38100" dir="5400000" algn="t" rotWithShape="0">
                  <a:prstClr val="black">
                    <a:alpha val="40000"/>
                  </a:prstClr>
                </a:outerShdw>
              </a:effectLst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>
        <c:manualLayout>
          <c:layoutTarget val="inner"/>
          <c:xMode val="edge"/>
          <c:yMode val="edge"/>
          <c:x val="0.1046020321079497"/>
          <c:y val="0.15957529388146596"/>
          <c:w val="0.86455511811023622"/>
          <c:h val="0.68032626130067075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'Pivot Table '!$I$31</c:f>
              <c:strCache>
                <c:ptCount val="1"/>
                <c:pt idx="0">
                  <c:v>2016</c:v>
                </c:pt>
              </c:strCache>
            </c:strRef>
          </c:tx>
          <c:spPr>
            <a:gradFill rotWithShape="1">
              <a:gsLst>
                <a:gs pos="0">
                  <a:schemeClr val="accent6">
                    <a:satMod val="103000"/>
                    <a:lumMod val="102000"/>
                    <a:tint val="94000"/>
                  </a:schemeClr>
                </a:gs>
                <a:gs pos="50000">
                  <a:schemeClr val="accent6">
                    <a:satMod val="110000"/>
                    <a:lumMod val="100000"/>
                    <a:shade val="100000"/>
                  </a:schemeClr>
                </a:gs>
                <a:gs pos="100000">
                  <a:schemeClr val="accent6">
                    <a:lumMod val="99000"/>
                    <a:satMod val="120000"/>
                    <a:shade val="78000"/>
                  </a:schemeClr>
                </a:gs>
              </a:gsLst>
              <a:lin ang="5400000" scaled="0"/>
            </a:gradFill>
            <a:ln>
              <a:noFill/>
            </a:ln>
            <a:effectLst>
              <a:outerShdw blurRad="57150" dist="19050" dir="5400000" algn="ctr" rotWithShape="0">
                <a:srgbClr val="000000">
                  <a:alpha val="63000"/>
                </a:srgbClr>
              </a:outerShdw>
            </a:effectLst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050" b="1" i="0" u="none" strike="noStrike" kern="1200" baseline="0">
                    <a:solidFill>
                      <a:schemeClr val="bg1"/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in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>
                      <a:solidFill>
                        <a:schemeClr val="lt1">
                          <a:lumMod val="95000"/>
                          <a:alpha val="54000"/>
                        </a:schemeClr>
                      </a:solidFill>
                    </a:ln>
                    <a:effectLst/>
                  </c:spPr>
                </c15:leaderLines>
              </c:ext>
            </c:extLst>
          </c:dLbls>
          <c:cat>
            <c:strRef>
              <c:f>'Pivot Table '!$H$32:$H$34</c:f>
              <c:strCache>
                <c:ptCount val="3"/>
                <c:pt idx="0">
                  <c:v>Indiana</c:v>
                </c:pt>
                <c:pt idx="1">
                  <c:v>North Carolina</c:v>
                </c:pt>
                <c:pt idx="2">
                  <c:v>Virginia</c:v>
                </c:pt>
              </c:strCache>
            </c:strRef>
          </c:cat>
          <c:val>
            <c:numRef>
              <c:f>'Pivot Table '!$I$32:$I$34</c:f>
              <c:numCache>
                <c:formatCode>0.0,"K"</c:formatCode>
                <c:ptCount val="3"/>
                <c:pt idx="0">
                  <c:v>10385.133900000003</c:v>
                </c:pt>
                <c:pt idx="1">
                  <c:v>260.8410999999993</c:v>
                </c:pt>
                <c:pt idx="2">
                  <c:v>7851.4730000000018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8658-4472-867C-E3F92134CE3D}"/>
            </c:ext>
          </c:extLst>
        </c:ser>
        <c:ser>
          <c:idx val="1"/>
          <c:order val="1"/>
          <c:tx>
            <c:strRef>
              <c:f>'Pivot Table '!$J$31</c:f>
              <c:strCache>
                <c:ptCount val="1"/>
                <c:pt idx="0">
                  <c:v>2017</c:v>
                </c:pt>
              </c:strCache>
            </c:strRef>
          </c:tx>
          <c:spPr>
            <a:gradFill rotWithShape="1">
              <a:gsLst>
                <a:gs pos="0">
                  <a:schemeClr val="accent5">
                    <a:satMod val="103000"/>
                    <a:lumMod val="102000"/>
                    <a:tint val="94000"/>
                  </a:schemeClr>
                </a:gs>
                <a:gs pos="50000">
                  <a:schemeClr val="accent5">
                    <a:satMod val="110000"/>
                    <a:lumMod val="100000"/>
                    <a:shade val="100000"/>
                  </a:schemeClr>
                </a:gs>
                <a:gs pos="100000">
                  <a:schemeClr val="accent5">
                    <a:lumMod val="99000"/>
                    <a:satMod val="120000"/>
                    <a:shade val="78000"/>
                  </a:schemeClr>
                </a:gs>
              </a:gsLst>
              <a:lin ang="5400000" scaled="0"/>
            </a:gradFill>
            <a:ln>
              <a:noFill/>
            </a:ln>
            <a:effectLst>
              <a:outerShdw blurRad="57150" dist="19050" dir="5400000" algn="ctr" rotWithShape="0">
                <a:srgbClr val="000000">
                  <a:alpha val="63000"/>
                </a:srgbClr>
              </a:outerShdw>
            </a:effectLst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050" b="1" i="0" u="none" strike="noStrike" kern="1200" baseline="0">
                    <a:solidFill>
                      <a:schemeClr val="bg1"/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in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>
                      <a:solidFill>
                        <a:schemeClr val="lt1">
                          <a:lumMod val="95000"/>
                          <a:alpha val="54000"/>
                        </a:schemeClr>
                      </a:solidFill>
                    </a:ln>
                    <a:effectLst/>
                  </c:spPr>
                </c15:leaderLines>
              </c:ext>
            </c:extLst>
          </c:dLbls>
          <c:cat>
            <c:strRef>
              <c:f>'Pivot Table '!$H$32:$H$34</c:f>
              <c:strCache>
                <c:ptCount val="3"/>
                <c:pt idx="0">
                  <c:v>Indiana</c:v>
                </c:pt>
                <c:pt idx="1">
                  <c:v>North Carolina</c:v>
                </c:pt>
                <c:pt idx="2">
                  <c:v>Virginia</c:v>
                </c:pt>
              </c:strCache>
            </c:strRef>
          </c:cat>
          <c:val>
            <c:numRef>
              <c:f>'Pivot Table '!$J$32:$J$34</c:f>
              <c:numCache>
                <c:formatCode>0.0,"K"</c:formatCode>
                <c:ptCount val="3"/>
                <c:pt idx="0">
                  <c:v>5139.5257000000001</c:v>
                </c:pt>
                <c:pt idx="1">
                  <c:v>-5088.5334000000003</c:v>
                </c:pt>
                <c:pt idx="2">
                  <c:v>1806.0146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8658-4472-867C-E3F92134CE3D}"/>
            </c:ext>
          </c:extLst>
        </c:ser>
        <c:dLbls>
          <c:dLblPos val="inEnd"/>
          <c:showLegendKey val="0"/>
          <c:showVal val="1"/>
          <c:showCatName val="0"/>
          <c:showSerName val="0"/>
          <c:showPercent val="0"/>
          <c:showBubbleSize val="0"/>
        </c:dLbls>
        <c:gapWidth val="100"/>
        <c:overlap val="-24"/>
        <c:axId val="682012399"/>
        <c:axId val="682011439"/>
      </c:barChart>
      <c:catAx>
        <c:axId val="682012399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12700" cap="flat" cmpd="sng" algn="ctr">
            <a:solidFill>
              <a:schemeClr val="lt1">
                <a:lumMod val="95000"/>
                <a:alpha val="54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400" b="1" i="0" u="none" strike="noStrike" kern="1200" baseline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682011439"/>
        <c:crosses val="autoZero"/>
        <c:auto val="1"/>
        <c:lblAlgn val="ctr"/>
        <c:lblOffset val="100"/>
        <c:noMultiLvlLbl val="0"/>
      </c:catAx>
      <c:valAx>
        <c:axId val="682011439"/>
        <c:scaling>
          <c:orientation val="minMax"/>
        </c:scaling>
        <c:delete val="1"/>
        <c:axPos val="l"/>
        <c:numFmt formatCode="0.0,&quot;K&quot;" sourceLinked="1"/>
        <c:majorTickMark val="none"/>
        <c:minorTickMark val="none"/>
        <c:tickLblPos val="nextTo"/>
        <c:crossAx val="682012399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lt1">
                  <a:lumMod val="8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</c:chart>
  <c:spPr>
    <a:gradFill flip="none" rotWithShape="1">
      <a:gsLst>
        <a:gs pos="0">
          <a:schemeClr val="dk1">
            <a:lumMod val="65000"/>
            <a:lumOff val="35000"/>
          </a:schemeClr>
        </a:gs>
        <a:gs pos="100000">
          <a:schemeClr val="dk1">
            <a:lumMod val="85000"/>
            <a:lumOff val="15000"/>
          </a:schemeClr>
        </a:gs>
      </a:gsLst>
      <a:path path="circle">
        <a:fillToRect l="50000" t="50000" r="50000" b="50000"/>
      </a:path>
      <a:tileRect/>
    </a:gradFill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pivotSource>
    <c:name>[Profit_Analysis_Data.xlsx]Pivot Table !PivotTable4</c:name>
    <c:fmtId val="4"/>
  </c:pivotSource>
  <c:chart>
    <c:autoTitleDeleted val="0"/>
    <c:pivotFmts>
      <c:pivotFmt>
        <c:idx val="0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1100" b="1" i="0" u="none" strike="noStrike" kern="1200" baseline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1100" b="0" i="0" u="none" strike="noStrike" kern="1200" baseline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"/>
        <c:spPr>
          <a:solidFill>
            <a:schemeClr val="accent2"/>
          </a:solidFill>
          <a:ln>
            <a:noFill/>
          </a:ln>
          <a:effectLst/>
        </c:spPr>
        <c:dLbl>
          <c:idx val="0"/>
          <c:layout>
            <c:manualLayout>
              <c:x val="-2.5462668816039986E-17"/>
              <c:y val="-4.1666666666666664E-2"/>
            </c:manualLayout>
          </c:layout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1100" b="0" i="0" u="none" strike="noStrike" kern="1200" baseline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3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1100" b="1" i="0" u="none" strike="noStrike" kern="1200" baseline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4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1100" b="0" i="0" u="none" strike="noStrike" kern="1200" baseline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5"/>
        <c:spPr>
          <a:solidFill>
            <a:schemeClr val="accent2"/>
          </a:solidFill>
          <a:ln>
            <a:noFill/>
          </a:ln>
          <a:effectLst/>
        </c:spPr>
        <c:dLbl>
          <c:idx val="0"/>
          <c:layout>
            <c:manualLayout>
              <c:x val="-2.5462668816039986E-17"/>
              <c:y val="-4.1666666666666664E-2"/>
            </c:manualLayout>
          </c:layout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1100" b="0" i="0" u="none" strike="noStrike" kern="1200" baseline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6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1100" b="1" i="0" u="none" strike="noStrike" kern="1200" baseline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7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1100" b="0" i="0" u="none" strike="noStrike" kern="1200" baseline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8"/>
        <c:spPr>
          <a:solidFill>
            <a:schemeClr val="accent2"/>
          </a:solidFill>
          <a:ln>
            <a:noFill/>
          </a:ln>
          <a:effectLst/>
        </c:spPr>
        <c:dLbl>
          <c:idx val="0"/>
          <c:layout>
            <c:manualLayout>
              <c:x val="-2.5462668816039986E-17"/>
              <c:y val="-4.1666666666666664E-2"/>
            </c:manualLayout>
          </c:layout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1100" b="0" i="0" u="none" strike="noStrike" kern="1200" baseline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</c:pivotFmts>
    <c:plotArea>
      <c:layout>
        <c:manualLayout>
          <c:layoutTarget val="inner"/>
          <c:xMode val="edge"/>
          <c:yMode val="edge"/>
          <c:x val="3.0555555555555555E-2"/>
          <c:y val="3.7037037037037035E-2"/>
          <c:w val="0.93888888888888888"/>
          <c:h val="0.79652996500437445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'Pivot Table '!$W$5:$W$6</c:f>
              <c:strCache>
                <c:ptCount val="1"/>
                <c:pt idx="0">
                  <c:v>2016</c:v>
                </c:pt>
              </c:strCache>
            </c:strRef>
          </c:tx>
          <c:spPr>
            <a:gradFill rotWithShape="1">
              <a:gsLst>
                <a:gs pos="0">
                  <a:schemeClr val="accent1">
                    <a:satMod val="103000"/>
                    <a:lumMod val="102000"/>
                    <a:tint val="94000"/>
                  </a:schemeClr>
                </a:gs>
                <a:gs pos="50000">
                  <a:schemeClr val="accent1">
                    <a:satMod val="110000"/>
                    <a:lumMod val="100000"/>
                    <a:shade val="100000"/>
                  </a:schemeClr>
                </a:gs>
                <a:gs pos="100000">
                  <a:schemeClr val="accent1">
                    <a:lumMod val="99000"/>
                    <a:satMod val="120000"/>
                    <a:shade val="78000"/>
                  </a:schemeClr>
                </a:gs>
              </a:gsLst>
              <a:lin ang="5400000" scaled="0"/>
            </a:gradFill>
            <a:ln>
              <a:noFill/>
            </a:ln>
            <a:effectLst>
              <a:outerShdw blurRad="57150" dist="19050" dir="5400000" algn="ctr" rotWithShape="0">
                <a:srgbClr val="000000">
                  <a:alpha val="63000"/>
                </a:srgbClr>
              </a:outerShdw>
            </a:effectLst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000" b="1" i="0" u="none" strike="noStrike" kern="1200" baseline="0">
                    <a:solidFill>
                      <a:schemeClr val="bg1"/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in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>
                      <a:solidFill>
                        <a:schemeClr val="lt1">
                          <a:lumMod val="95000"/>
                          <a:alpha val="54000"/>
                        </a:schemeClr>
                      </a:solidFill>
                    </a:ln>
                    <a:effectLst/>
                  </c:spPr>
                </c15:leaderLines>
              </c:ext>
            </c:extLst>
          </c:dLbls>
          <c:cat>
            <c:strRef>
              <c:f>'Pivot Table '!$V$7:$V$9</c:f>
              <c:strCache>
                <c:ptCount val="3"/>
                <c:pt idx="0">
                  <c:v>Furniture</c:v>
                </c:pt>
                <c:pt idx="1">
                  <c:v>Office Supplies</c:v>
                </c:pt>
                <c:pt idx="2">
                  <c:v>Technology</c:v>
                </c:pt>
              </c:strCache>
            </c:strRef>
          </c:cat>
          <c:val>
            <c:numRef>
              <c:f>'Pivot Table '!$W$7:$W$9</c:f>
              <c:numCache>
                <c:formatCode>0.00,"K"</c:formatCode>
                <c:ptCount val="3"/>
                <c:pt idx="0">
                  <c:v>2892.9090999999976</c:v>
                </c:pt>
                <c:pt idx="1">
                  <c:v>11716.712800000001</c:v>
                </c:pt>
                <c:pt idx="2">
                  <c:v>22992.349400000003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8DA5-4263-BF7E-1A397D3760E1}"/>
            </c:ext>
          </c:extLst>
        </c:ser>
        <c:ser>
          <c:idx val="1"/>
          <c:order val="1"/>
          <c:tx>
            <c:strRef>
              <c:f>'Pivot Table '!$X$5:$X$6</c:f>
              <c:strCache>
                <c:ptCount val="1"/>
                <c:pt idx="0">
                  <c:v>2017</c:v>
                </c:pt>
              </c:strCache>
            </c:strRef>
          </c:tx>
          <c:spPr>
            <a:gradFill rotWithShape="1">
              <a:gsLst>
                <a:gs pos="0">
                  <a:schemeClr val="accent2">
                    <a:satMod val="103000"/>
                    <a:lumMod val="102000"/>
                    <a:tint val="94000"/>
                  </a:schemeClr>
                </a:gs>
                <a:gs pos="50000">
                  <a:schemeClr val="accent2">
                    <a:satMod val="110000"/>
                    <a:lumMod val="100000"/>
                    <a:shade val="100000"/>
                  </a:schemeClr>
                </a:gs>
                <a:gs pos="100000">
                  <a:schemeClr val="accent2">
                    <a:lumMod val="99000"/>
                    <a:satMod val="120000"/>
                    <a:shade val="78000"/>
                  </a:schemeClr>
                </a:gs>
              </a:gsLst>
              <a:lin ang="5400000" scaled="0"/>
            </a:gradFill>
            <a:ln>
              <a:noFill/>
            </a:ln>
            <a:effectLst>
              <a:outerShdw blurRad="57150" dist="19050" dir="5400000" algn="ctr" rotWithShape="0">
                <a:srgbClr val="000000">
                  <a:alpha val="63000"/>
                </a:srgbClr>
              </a:outerShdw>
            </a:effectLst>
          </c:spPr>
          <c:invertIfNegative val="0"/>
          <c:dLbls>
            <c:dLbl>
              <c:idx val="0"/>
              <c:layout>
                <c:manualLayout>
                  <c:x val="-2.8696965691308775E-3"/>
                  <c:y val="-4.486781382915727E-2"/>
                </c:manualLayout>
              </c:layout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1-8DA5-4263-BF7E-1A397D3760E1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000" b="1" i="0" u="none" strike="noStrike" kern="1200" baseline="0">
                    <a:solidFill>
                      <a:schemeClr val="bg1"/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in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>
                      <a:solidFill>
                        <a:schemeClr val="lt1">
                          <a:lumMod val="95000"/>
                          <a:alpha val="54000"/>
                        </a:schemeClr>
                      </a:solidFill>
                    </a:ln>
                    <a:effectLst/>
                  </c:spPr>
                </c15:leaderLines>
              </c:ext>
            </c:extLst>
          </c:dLbls>
          <c:cat>
            <c:strRef>
              <c:f>'Pivot Table '!$V$7:$V$9</c:f>
              <c:strCache>
                <c:ptCount val="3"/>
                <c:pt idx="0">
                  <c:v>Furniture</c:v>
                </c:pt>
                <c:pt idx="1">
                  <c:v>Office Supplies</c:v>
                </c:pt>
                <c:pt idx="2">
                  <c:v>Technology</c:v>
                </c:pt>
              </c:strCache>
            </c:strRef>
          </c:cat>
          <c:val>
            <c:numRef>
              <c:f>'Pivot Table '!$X$7:$X$9</c:f>
              <c:numCache>
                <c:formatCode>0.00,"K"</c:formatCode>
                <c:ptCount val="3"/>
                <c:pt idx="0">
                  <c:v>-1865.6768000000002</c:v>
                </c:pt>
                <c:pt idx="1">
                  <c:v>5865.8927999999969</c:v>
                </c:pt>
                <c:pt idx="2">
                  <c:v>12399.536100000005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8DA5-4263-BF7E-1A397D3760E1}"/>
            </c:ext>
          </c:extLst>
        </c:ser>
        <c:dLbls>
          <c:dLblPos val="inEnd"/>
          <c:showLegendKey val="0"/>
          <c:showVal val="1"/>
          <c:showCatName val="0"/>
          <c:showSerName val="0"/>
          <c:showPercent val="0"/>
          <c:showBubbleSize val="0"/>
        </c:dLbls>
        <c:gapWidth val="100"/>
        <c:overlap val="-24"/>
        <c:axId val="1098132816"/>
        <c:axId val="1070442000"/>
      </c:barChart>
      <c:catAx>
        <c:axId val="1098132816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12700" cap="flat" cmpd="sng" algn="ctr">
            <a:solidFill>
              <a:schemeClr val="lt1">
                <a:lumMod val="95000"/>
                <a:alpha val="54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lt1">
                    <a:lumMod val="8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070442000"/>
        <c:crosses val="autoZero"/>
        <c:auto val="1"/>
        <c:lblAlgn val="ctr"/>
        <c:lblOffset val="100"/>
        <c:noMultiLvlLbl val="0"/>
      </c:catAx>
      <c:valAx>
        <c:axId val="1070442000"/>
        <c:scaling>
          <c:orientation val="minMax"/>
        </c:scaling>
        <c:delete val="1"/>
        <c:axPos val="l"/>
        <c:numFmt formatCode="0.00,&quot;K&quot;" sourceLinked="1"/>
        <c:majorTickMark val="none"/>
        <c:minorTickMark val="none"/>
        <c:tickLblPos val="nextTo"/>
        <c:crossAx val="1098132816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lt1">
                  <a:lumMod val="8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gradFill flip="none" rotWithShape="1">
      <a:gsLst>
        <a:gs pos="0">
          <a:schemeClr val="dk1">
            <a:lumMod val="65000"/>
            <a:lumOff val="35000"/>
          </a:schemeClr>
        </a:gs>
        <a:gs pos="100000">
          <a:schemeClr val="dk1">
            <a:lumMod val="85000"/>
            <a:lumOff val="15000"/>
          </a:schemeClr>
        </a:gs>
      </a:gsLst>
      <a:path path="circle">
        <a:fillToRect l="50000" t="50000" r="50000" b="50000"/>
      </a:path>
      <a:tileRect/>
    </a:gradFill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  <c:extLst>
    <c:ext xmlns:c14="http://schemas.microsoft.com/office/drawing/2007/8/2/chart" uri="{781A3756-C4B2-4CAC-9D66-4F8BD8637D16}">
      <c14:pivotOptions>
        <c14:dropZoneFilter val="1"/>
        <c14:dropZoneCategories val="1"/>
        <c14:dropZoneData val="1"/>
        <c14:dropZoneSeries val="1"/>
      </c14:pivotOptions>
    </c:ext>
    <c:ext xmlns:c16="http://schemas.microsoft.com/office/drawing/2014/chart" uri="{E28EC0CA-F0BB-4C9C-879D-F8772B89E7AC}">
      <c16:pivotOptions16>
        <c16:showExpandCollapseFieldButtons val="1"/>
      </c16:pivotOptions16>
    </c:ext>
  </c:extLst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pivotSource>
    <c:name>[Profit_Analysis_Data.xlsx]Pivot Table !PivotTable7</c:name>
    <c:fmtId val="8"/>
  </c:pivotSource>
  <c:chart>
    <c:title>
      <c:tx>
        <c:rich>
          <a:bodyPr rot="0" spcFirstLastPara="1" vertOverflow="ellipsis" vert="horz" wrap="square" anchor="ctr" anchorCtr="1"/>
          <a:lstStyle/>
          <a:p>
            <a:pPr>
              <a:defRPr sz="2128" b="1" i="0" u="none" strike="noStrike" kern="1200" spc="100" baseline="0">
                <a:solidFill>
                  <a:schemeClr val="lt1">
                    <a:lumMod val="95000"/>
                  </a:schemeClr>
                </a:solidFill>
                <a:effectLst>
                  <a:outerShdw blurRad="50800" dist="38100" dir="5400000" algn="t" rotWithShape="0">
                    <a:prstClr val="black">
                      <a:alpha val="40000"/>
                    </a:prstClr>
                  </a:outerShdw>
                </a:effectLst>
                <a:latin typeface="+mn-lt"/>
                <a:ea typeface="+mn-ea"/>
                <a:cs typeface="+mn-cs"/>
              </a:defRPr>
            </a:pPr>
            <a:r>
              <a:rPr lang="en-US"/>
              <a:t>Profit per Segmant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2128" b="1" i="0" u="none" strike="noStrike" kern="1200" spc="100" baseline="0">
              <a:solidFill>
                <a:schemeClr val="lt1">
                  <a:lumMod val="95000"/>
                </a:schemeClr>
              </a:solidFill>
              <a:effectLst>
                <a:outerShdw blurRad="50800" dist="38100" dir="5400000" algn="t" rotWithShape="0">
                  <a:prstClr val="black">
                    <a:alpha val="40000"/>
                  </a:prstClr>
                </a:outerShdw>
              </a:effectLst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ivotFmts>
      <c:pivotFmt>
        <c:idx val="0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ysClr val="windowText" lastClr="000000"/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ysClr val="windowText" lastClr="000000"/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ysClr val="windowText" lastClr="000000"/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3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ysClr val="windowText" lastClr="000000"/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4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ysClr val="windowText" lastClr="000000"/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5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ysClr val="windowText" lastClr="000000"/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</c:pivotFmts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'Pivot Table '!$AX$5:$AX$6</c:f>
              <c:strCache>
                <c:ptCount val="1"/>
                <c:pt idx="0">
                  <c:v>2016</c:v>
                </c:pt>
              </c:strCache>
            </c:strRef>
          </c:tx>
          <c:spPr>
            <a:gradFill rotWithShape="1">
              <a:gsLst>
                <a:gs pos="0">
                  <a:schemeClr val="accent1">
                    <a:satMod val="103000"/>
                    <a:lumMod val="102000"/>
                    <a:tint val="94000"/>
                  </a:schemeClr>
                </a:gs>
                <a:gs pos="50000">
                  <a:schemeClr val="accent1">
                    <a:satMod val="110000"/>
                    <a:lumMod val="100000"/>
                    <a:shade val="100000"/>
                  </a:schemeClr>
                </a:gs>
                <a:gs pos="100000">
                  <a:schemeClr val="accent1">
                    <a:lumMod val="99000"/>
                    <a:satMod val="120000"/>
                    <a:shade val="78000"/>
                  </a:schemeClr>
                </a:gs>
              </a:gsLst>
              <a:lin ang="5400000" scaled="0"/>
            </a:gradFill>
            <a:ln>
              <a:noFill/>
            </a:ln>
            <a:effectLst>
              <a:outerShdw blurRad="57150" dist="19050" dir="5400000" algn="ctr" rotWithShape="0">
                <a:srgbClr val="000000">
                  <a:alpha val="63000"/>
                </a:srgbClr>
              </a:outerShdw>
            </a:effectLst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chemeClr val="lt1">
                        <a:lumMod val="8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>
                      <a:solidFill>
                        <a:schemeClr val="lt1">
                          <a:lumMod val="95000"/>
                          <a:alpha val="54000"/>
                        </a:schemeClr>
                      </a:solidFill>
                    </a:ln>
                    <a:effectLst/>
                  </c:spPr>
                </c15:leaderLines>
              </c:ext>
            </c:extLst>
          </c:dLbls>
          <c:cat>
            <c:strRef>
              <c:f>'Pivot Table '!$AW$7:$AW$9</c:f>
              <c:strCache>
                <c:ptCount val="3"/>
                <c:pt idx="0">
                  <c:v>Consumer</c:v>
                </c:pt>
                <c:pt idx="1">
                  <c:v>Corporate</c:v>
                </c:pt>
                <c:pt idx="2">
                  <c:v>Home Office</c:v>
                </c:pt>
              </c:strCache>
            </c:strRef>
          </c:cat>
          <c:val>
            <c:numRef>
              <c:f>'Pivot Table '!$AX$7:$AX$9</c:f>
              <c:numCache>
                <c:formatCode>0.00,"K"</c:formatCode>
                <c:ptCount val="3"/>
                <c:pt idx="0">
                  <c:v>15914.604800000005</c:v>
                </c:pt>
                <c:pt idx="1">
                  <c:v>16539.858900000007</c:v>
                </c:pt>
                <c:pt idx="2">
                  <c:v>5147.507599999999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D0D8-48DC-B972-4A078A21246F}"/>
            </c:ext>
          </c:extLst>
        </c:ser>
        <c:ser>
          <c:idx val="1"/>
          <c:order val="1"/>
          <c:tx>
            <c:strRef>
              <c:f>'Pivot Table '!$AY$5:$AY$6</c:f>
              <c:strCache>
                <c:ptCount val="1"/>
                <c:pt idx="0">
                  <c:v>2017</c:v>
                </c:pt>
              </c:strCache>
            </c:strRef>
          </c:tx>
          <c:spPr>
            <a:gradFill rotWithShape="1">
              <a:gsLst>
                <a:gs pos="0">
                  <a:schemeClr val="accent2">
                    <a:satMod val="103000"/>
                    <a:lumMod val="102000"/>
                    <a:tint val="94000"/>
                  </a:schemeClr>
                </a:gs>
                <a:gs pos="50000">
                  <a:schemeClr val="accent2">
                    <a:satMod val="110000"/>
                    <a:lumMod val="100000"/>
                    <a:shade val="100000"/>
                  </a:schemeClr>
                </a:gs>
                <a:gs pos="100000">
                  <a:schemeClr val="accent2">
                    <a:lumMod val="99000"/>
                    <a:satMod val="120000"/>
                    <a:shade val="78000"/>
                  </a:schemeClr>
                </a:gs>
              </a:gsLst>
              <a:lin ang="5400000" scaled="0"/>
            </a:gradFill>
            <a:ln>
              <a:noFill/>
            </a:ln>
            <a:effectLst>
              <a:outerShdw blurRad="57150" dist="19050" dir="5400000" algn="ctr" rotWithShape="0">
                <a:srgbClr val="000000">
                  <a:alpha val="63000"/>
                </a:srgbClr>
              </a:outerShdw>
            </a:effectLst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chemeClr val="lt1">
                        <a:lumMod val="8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>
                      <a:solidFill>
                        <a:schemeClr val="lt1">
                          <a:lumMod val="95000"/>
                          <a:alpha val="54000"/>
                        </a:schemeClr>
                      </a:solidFill>
                    </a:ln>
                    <a:effectLst/>
                  </c:spPr>
                </c15:leaderLines>
              </c:ext>
            </c:extLst>
          </c:dLbls>
          <c:cat>
            <c:strRef>
              <c:f>'Pivot Table '!$AW$7:$AW$9</c:f>
              <c:strCache>
                <c:ptCount val="3"/>
                <c:pt idx="0">
                  <c:v>Consumer</c:v>
                </c:pt>
                <c:pt idx="1">
                  <c:v>Corporate</c:v>
                </c:pt>
                <c:pt idx="2">
                  <c:v>Home Office</c:v>
                </c:pt>
              </c:strCache>
            </c:strRef>
          </c:cat>
          <c:val>
            <c:numRef>
              <c:f>'Pivot Table '!$AY$7:$AY$9</c:f>
              <c:numCache>
                <c:formatCode>0.00,"K"</c:formatCode>
                <c:ptCount val="3"/>
                <c:pt idx="0">
                  <c:v>10295.593700000007</c:v>
                </c:pt>
                <c:pt idx="1">
                  <c:v>2410.5450999999971</c:v>
                </c:pt>
                <c:pt idx="2">
                  <c:v>3693.6133000000004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D0D8-48DC-B972-4A078A21246F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100"/>
        <c:overlap val="-24"/>
        <c:axId val="404217711"/>
        <c:axId val="404216271"/>
      </c:barChart>
      <c:catAx>
        <c:axId val="404217711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12700" cap="flat" cmpd="sng" algn="ctr">
            <a:solidFill>
              <a:schemeClr val="lt1">
                <a:lumMod val="95000"/>
                <a:alpha val="54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lt1">
                    <a:lumMod val="8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404216271"/>
        <c:crosses val="autoZero"/>
        <c:auto val="1"/>
        <c:lblAlgn val="ctr"/>
        <c:lblOffset val="100"/>
        <c:noMultiLvlLbl val="0"/>
      </c:catAx>
      <c:valAx>
        <c:axId val="404216271"/>
        <c:scaling>
          <c:orientation val="minMax"/>
        </c:scaling>
        <c:delete val="1"/>
        <c:axPos val="l"/>
        <c:numFmt formatCode="0.00,&quot;K&quot;" sourceLinked="1"/>
        <c:majorTickMark val="none"/>
        <c:minorTickMark val="none"/>
        <c:tickLblPos val="nextTo"/>
        <c:crossAx val="404217711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lt1">
                  <a:lumMod val="8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gradFill flip="none" rotWithShape="1">
      <a:gsLst>
        <a:gs pos="0">
          <a:schemeClr val="dk1">
            <a:lumMod val="65000"/>
            <a:lumOff val="35000"/>
          </a:schemeClr>
        </a:gs>
        <a:gs pos="100000">
          <a:schemeClr val="dk1">
            <a:lumMod val="85000"/>
            <a:lumOff val="15000"/>
          </a:schemeClr>
        </a:gs>
      </a:gsLst>
      <a:path path="circle">
        <a:fillToRect l="50000" t="50000" r="50000" b="50000"/>
      </a:path>
      <a:tileRect/>
    </a:gradFill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  <c:extLst>
    <c:ext xmlns:c14="http://schemas.microsoft.com/office/drawing/2007/8/2/chart" uri="{781A3756-C4B2-4CAC-9D66-4F8BD8637D16}">
      <c14:pivotOptions>
        <c14:dropZoneFilter val="1"/>
        <c14:dropZoneCategories val="1"/>
        <c14:dropZoneData val="1"/>
        <c14:dropZoneSeries val="1"/>
      </c14:pivotOptions>
    </c:ext>
    <c:ext xmlns:c16="http://schemas.microsoft.com/office/drawing/2014/chart" uri="{E28EC0CA-F0BB-4C9C-879D-F8772B89E7AC}">
      <c16:pivotOptions16>
        <c16:showExpandCollapseFieldButtons val="1"/>
      </c16:pivotOptions16>
    </c:ext>
  </c:extLst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2128" b="1" i="0" u="none" strike="noStrike" kern="1200" spc="100" baseline="0">
                <a:solidFill>
                  <a:schemeClr val="lt1">
                    <a:lumMod val="95000"/>
                  </a:schemeClr>
                </a:solidFill>
                <a:effectLst>
                  <a:outerShdw blurRad="50800" dist="38100" dir="5400000" algn="t" rotWithShape="0">
                    <a:prstClr val="black">
                      <a:alpha val="40000"/>
                    </a:prstClr>
                  </a:outerShdw>
                </a:effectLst>
                <a:latin typeface="+mn-lt"/>
                <a:ea typeface="+mn-ea"/>
                <a:cs typeface="+mn-cs"/>
              </a:defRPr>
            </a:pPr>
            <a:r>
              <a:rPr lang="en-US"/>
              <a:t>Profit per Month </a:t>
            </a:r>
          </a:p>
          <a:p>
            <a:pPr>
              <a:defRPr/>
            </a:pPr>
            <a:endParaRPr lang="en-US"/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2128" b="1" i="0" u="none" strike="noStrike" kern="1200" spc="100" baseline="0">
              <a:solidFill>
                <a:schemeClr val="lt1">
                  <a:lumMod val="95000"/>
                </a:schemeClr>
              </a:solidFill>
              <a:effectLst>
                <a:outerShdw blurRad="50800" dist="38100" dir="5400000" algn="t" rotWithShape="0">
                  <a:prstClr val="black">
                    <a:alpha val="40000"/>
                  </a:prstClr>
                </a:outerShdw>
              </a:effectLst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>
        <c:manualLayout>
          <c:layoutTarget val="inner"/>
          <c:xMode val="edge"/>
          <c:yMode val="edge"/>
          <c:x val="2.5200458190148912E-2"/>
          <c:y val="0.104"/>
          <c:w val="0.94959908361970213"/>
          <c:h val="0.78616824146981623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'Pivot Table '!$BS$5</c:f>
              <c:strCache>
                <c:ptCount val="1"/>
                <c:pt idx="0">
                  <c:v>2016</c:v>
                </c:pt>
              </c:strCache>
            </c:strRef>
          </c:tx>
          <c:spPr>
            <a:gradFill rotWithShape="1">
              <a:gsLst>
                <a:gs pos="0">
                  <a:schemeClr val="accent1">
                    <a:satMod val="103000"/>
                    <a:lumMod val="102000"/>
                    <a:tint val="94000"/>
                  </a:schemeClr>
                </a:gs>
                <a:gs pos="50000">
                  <a:schemeClr val="accent1">
                    <a:satMod val="110000"/>
                    <a:lumMod val="100000"/>
                    <a:shade val="100000"/>
                  </a:schemeClr>
                </a:gs>
                <a:gs pos="100000">
                  <a:schemeClr val="accent1">
                    <a:lumMod val="99000"/>
                    <a:satMod val="120000"/>
                    <a:shade val="78000"/>
                  </a:schemeClr>
                </a:gs>
              </a:gsLst>
              <a:lin ang="5400000" scaled="0"/>
            </a:gradFill>
            <a:ln>
              <a:noFill/>
            </a:ln>
            <a:effectLst>
              <a:outerShdw blurRad="57150" dist="19050" dir="5400000" algn="ctr" rotWithShape="0">
                <a:srgbClr val="000000">
                  <a:alpha val="63000"/>
                </a:srgbClr>
              </a:outerShdw>
            </a:effectLst>
          </c:spPr>
          <c:invertIfNegative val="0"/>
          <c:dLbls>
            <c:dLbl>
              <c:idx val="0"/>
              <c:layout>
                <c:manualLayout>
                  <c:x val="-1.3745704467353952E-2"/>
                  <c:y val="0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0-1D81-4556-AA24-A39B30DABF23}"/>
                </c:ext>
              </c:extLst>
            </c:dLbl>
            <c:dLbl>
              <c:idx val="2"/>
              <c:layout>
                <c:manualLayout>
                  <c:x val="-2.2909507445590129E-3"/>
                  <c:y val="-9.7731239092495509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1-1D81-4556-AA24-A39B30DABF23}"/>
                </c:ext>
              </c:extLst>
            </c:dLbl>
            <c:dLbl>
              <c:idx val="3"/>
              <c:layout>
                <c:manualLayout>
                  <c:x val="0"/>
                  <c:y val="-0.11518324607329843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2-1D81-4556-AA24-A39B30DABF23}"/>
                </c:ext>
              </c:extLst>
            </c:dLbl>
            <c:dLbl>
              <c:idx val="4"/>
              <c:layout>
                <c:manualLayout>
                  <c:x val="-4.2000278459447396E-17"/>
                  <c:y val="-4.5375218150087257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3-1D81-4556-AA24-A39B30DABF23}"/>
                </c:ext>
              </c:extLst>
            </c:dLbl>
            <c:dLbl>
              <c:idx val="8"/>
              <c:layout>
                <c:manualLayout>
                  <c:x val="-4.5819014891179842E-3"/>
                  <c:y val="0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4-1D81-4556-AA24-A39B30DABF23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chemeClr val="lt1">
                        <a:lumMod val="8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>
                      <a:solidFill>
                        <a:schemeClr val="lt1">
                          <a:lumMod val="95000"/>
                          <a:alpha val="54000"/>
                        </a:schemeClr>
                      </a:solidFill>
                    </a:ln>
                    <a:effectLst/>
                  </c:spPr>
                </c15:leaderLines>
              </c:ext>
            </c:extLst>
          </c:dLbls>
          <c:cat>
            <c:strRef>
              <c:f>'Pivot Table '!$BR$6:$BR$17</c:f>
              <c:strCache>
                <c:ptCount val="12"/>
                <c:pt idx="0">
                  <c:v>Jan</c:v>
                </c:pt>
                <c:pt idx="1">
                  <c:v>Feb</c:v>
                </c:pt>
                <c:pt idx="2">
                  <c:v>Mar</c:v>
                </c:pt>
                <c:pt idx="3">
                  <c:v>Apr</c:v>
                </c:pt>
                <c:pt idx="4">
                  <c:v>May</c:v>
                </c:pt>
                <c:pt idx="5">
                  <c:v>Jun</c:v>
                </c:pt>
                <c:pt idx="6">
                  <c:v>Jul</c:v>
                </c:pt>
                <c:pt idx="7">
                  <c:v>Aug</c:v>
                </c:pt>
                <c:pt idx="8">
                  <c:v>Sep</c:v>
                </c:pt>
                <c:pt idx="9">
                  <c:v>Oct</c:v>
                </c:pt>
                <c:pt idx="10">
                  <c:v>Nov</c:v>
                </c:pt>
                <c:pt idx="11">
                  <c:v>Dec</c:v>
                </c:pt>
              </c:strCache>
            </c:strRef>
          </c:cat>
          <c:val>
            <c:numRef>
              <c:f>'Pivot Table '!$BS$6:$BS$17</c:f>
              <c:numCache>
                <c:formatCode>0.0,"K"</c:formatCode>
                <c:ptCount val="12"/>
                <c:pt idx="0">
                  <c:v>1381.5511999999999</c:v>
                </c:pt>
                <c:pt idx="1">
                  <c:v>4042.4956999999999</c:v>
                </c:pt>
                <c:pt idx="2">
                  <c:v>-42.438000000000244</c:v>
                </c:pt>
                <c:pt idx="3">
                  <c:v>-917.43689999999992</c:v>
                </c:pt>
                <c:pt idx="4">
                  <c:v>3645.9322999999995</c:v>
                </c:pt>
                <c:pt idx="5">
                  <c:v>876.36779999999999</c:v>
                </c:pt>
                <c:pt idx="6">
                  <c:v>1777.8098000000005</c:v>
                </c:pt>
                <c:pt idx="7">
                  <c:v>368.51189999999986</c:v>
                </c:pt>
                <c:pt idx="8">
                  <c:v>1884.0524000000007</c:v>
                </c:pt>
                <c:pt idx="9">
                  <c:v>11143.988500000001</c:v>
                </c:pt>
                <c:pt idx="10">
                  <c:v>4411.0244999999959</c:v>
                </c:pt>
                <c:pt idx="11">
                  <c:v>9030.1120999999966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5-1D81-4556-AA24-A39B30DABF23}"/>
            </c:ext>
          </c:extLst>
        </c:ser>
        <c:ser>
          <c:idx val="1"/>
          <c:order val="1"/>
          <c:tx>
            <c:strRef>
              <c:f>'Pivot Table '!$BT$5</c:f>
              <c:strCache>
                <c:ptCount val="1"/>
                <c:pt idx="0">
                  <c:v>2017</c:v>
                </c:pt>
              </c:strCache>
            </c:strRef>
          </c:tx>
          <c:spPr>
            <a:gradFill rotWithShape="1">
              <a:gsLst>
                <a:gs pos="0">
                  <a:schemeClr val="accent2">
                    <a:satMod val="103000"/>
                    <a:lumMod val="102000"/>
                    <a:tint val="94000"/>
                  </a:schemeClr>
                </a:gs>
                <a:gs pos="50000">
                  <a:schemeClr val="accent2">
                    <a:satMod val="110000"/>
                    <a:lumMod val="100000"/>
                    <a:shade val="100000"/>
                  </a:schemeClr>
                </a:gs>
                <a:gs pos="100000">
                  <a:schemeClr val="accent2">
                    <a:lumMod val="99000"/>
                    <a:satMod val="120000"/>
                    <a:shade val="78000"/>
                  </a:schemeClr>
                </a:gs>
              </a:gsLst>
              <a:lin ang="5400000" scaled="0"/>
            </a:gradFill>
            <a:ln>
              <a:noFill/>
            </a:ln>
            <a:effectLst>
              <a:outerShdw blurRad="57150" dist="19050" dir="5400000" algn="ctr" rotWithShape="0">
                <a:srgbClr val="000000">
                  <a:alpha val="63000"/>
                </a:srgbClr>
              </a:outerShdw>
            </a:effectLst>
          </c:spPr>
          <c:invertIfNegative val="0"/>
          <c:dLbls>
            <c:dLbl>
              <c:idx val="1"/>
              <c:layout>
                <c:manualLayout>
                  <c:x val="-2.9782359679266894E-2"/>
                  <c:y val="-0.1675392670157068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6-1D81-4556-AA24-A39B30DABF23}"/>
                </c:ext>
              </c:extLst>
            </c:dLbl>
            <c:dLbl>
              <c:idx val="6"/>
              <c:layout>
                <c:manualLayout>
                  <c:x val="-2.2909507445589921E-3"/>
                  <c:y val="-0.101221640488656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7-1D81-4556-AA24-A39B30DABF23}"/>
                </c:ext>
              </c:extLst>
            </c:dLbl>
            <c:dLbl>
              <c:idx val="7"/>
              <c:layout>
                <c:manualLayout>
                  <c:x val="-8.4000556918894792E-17"/>
                  <c:y val="-0.16753926701570684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8-1D81-4556-AA24-A39B30DABF23}"/>
                </c:ext>
              </c:extLst>
            </c:dLbl>
            <c:dLbl>
              <c:idx val="11"/>
              <c:layout>
                <c:manualLayout>
                  <c:x val="1.6036655211912942E-2"/>
                  <c:y val="-6.3989953045545512E-17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9-1D81-4556-AA24-A39B30DABF23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chemeClr val="lt1">
                        <a:lumMod val="8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>
                      <a:solidFill>
                        <a:schemeClr val="lt1">
                          <a:lumMod val="95000"/>
                          <a:alpha val="54000"/>
                        </a:schemeClr>
                      </a:solidFill>
                    </a:ln>
                    <a:effectLst/>
                  </c:spPr>
                </c15:leaderLines>
              </c:ext>
            </c:extLst>
          </c:dLbls>
          <c:cat>
            <c:strRef>
              <c:f>'Pivot Table '!$BR$6:$BR$17</c:f>
              <c:strCache>
                <c:ptCount val="12"/>
                <c:pt idx="0">
                  <c:v>Jan</c:v>
                </c:pt>
                <c:pt idx="1">
                  <c:v>Feb</c:v>
                </c:pt>
                <c:pt idx="2">
                  <c:v>Mar</c:v>
                </c:pt>
                <c:pt idx="3">
                  <c:v>Apr</c:v>
                </c:pt>
                <c:pt idx="4">
                  <c:v>May</c:v>
                </c:pt>
                <c:pt idx="5">
                  <c:v>Jun</c:v>
                </c:pt>
                <c:pt idx="6">
                  <c:v>Jul</c:v>
                </c:pt>
                <c:pt idx="7">
                  <c:v>Aug</c:v>
                </c:pt>
                <c:pt idx="8">
                  <c:v>Sep</c:v>
                </c:pt>
                <c:pt idx="9">
                  <c:v>Oct</c:v>
                </c:pt>
                <c:pt idx="10">
                  <c:v>Nov</c:v>
                </c:pt>
                <c:pt idx="11">
                  <c:v>Dec</c:v>
                </c:pt>
              </c:strCache>
            </c:strRef>
          </c:cat>
          <c:val>
            <c:numRef>
              <c:f>'Pivot Table '!$BT$6:$BT$17</c:f>
              <c:numCache>
                <c:formatCode>0.0,"K"</c:formatCode>
                <c:ptCount val="12"/>
                <c:pt idx="0">
                  <c:v>3576.2368000000015</c:v>
                </c:pt>
                <c:pt idx="1">
                  <c:v>-528.81100000000004</c:v>
                </c:pt>
                <c:pt idx="2">
                  <c:v>4448.7183000000005</c:v>
                </c:pt>
                <c:pt idx="3">
                  <c:v>1481.2350000000001</c:v>
                </c:pt>
                <c:pt idx="4">
                  <c:v>2847.9283999999989</c:v>
                </c:pt>
                <c:pt idx="5">
                  <c:v>2342.0585000000001</c:v>
                </c:pt>
                <c:pt idx="6">
                  <c:v>1605.7427000000005</c:v>
                </c:pt>
                <c:pt idx="7">
                  <c:v>712.51049999999964</c:v>
                </c:pt>
                <c:pt idx="8">
                  <c:v>3614.3274999999994</c:v>
                </c:pt>
                <c:pt idx="9">
                  <c:v>-1645.7142999999994</c:v>
                </c:pt>
                <c:pt idx="10">
                  <c:v>-3143.4028000000039</c:v>
                </c:pt>
                <c:pt idx="11">
                  <c:v>1088.9225000000004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A-1D81-4556-AA24-A39B30DABF23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219"/>
        <c:overlap val="-27"/>
        <c:axId val="14785040"/>
        <c:axId val="14775440"/>
      </c:barChart>
      <c:lineChart>
        <c:grouping val="standard"/>
        <c:varyColors val="0"/>
        <c:ser>
          <c:idx val="2"/>
          <c:order val="2"/>
          <c:tx>
            <c:strRef>
              <c:f>'Pivot Table '!$BU$5</c:f>
              <c:strCache>
                <c:ptCount val="1"/>
                <c:pt idx="0">
                  <c:v>Profit Difference</c:v>
                </c:pt>
              </c:strCache>
            </c:strRef>
          </c:tx>
          <c:spPr>
            <a:ln w="34925" cap="rnd">
              <a:solidFill>
                <a:schemeClr val="accent3"/>
              </a:solidFill>
              <a:round/>
            </a:ln>
            <a:effectLst>
              <a:outerShdw blurRad="57150" dist="19050" dir="5400000" algn="ctr" rotWithShape="0">
                <a:srgbClr val="000000">
                  <a:alpha val="63000"/>
                </a:srgbClr>
              </a:outerShdw>
            </a:effectLst>
          </c:spPr>
          <c:marker>
            <c:symbol val="none"/>
          </c:marker>
          <c:dLbls>
            <c:dLbl>
              <c:idx val="0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B-1D81-4556-AA24-A39B30DABF23}"/>
                </c:ext>
              </c:extLst>
            </c:dLbl>
            <c:dLbl>
              <c:idx val="1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C-1D81-4556-AA24-A39B30DABF23}"/>
                </c:ext>
              </c:extLst>
            </c:dLbl>
            <c:dLbl>
              <c:idx val="2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D-1D81-4556-AA24-A39B30DABF23}"/>
                </c:ext>
              </c:extLst>
            </c:dLbl>
            <c:dLbl>
              <c:idx val="3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E-1D81-4556-AA24-A39B30DABF23}"/>
                </c:ext>
              </c:extLst>
            </c:dLbl>
            <c:dLbl>
              <c:idx val="4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F-1D81-4556-AA24-A39B30DABF23}"/>
                </c:ext>
              </c:extLst>
            </c:dLbl>
            <c:dLbl>
              <c:idx val="5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10-1D81-4556-AA24-A39B30DABF23}"/>
                </c:ext>
              </c:extLst>
            </c:dLbl>
            <c:dLbl>
              <c:idx val="6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11-1D81-4556-AA24-A39B30DABF23}"/>
                </c:ext>
              </c:extLst>
            </c:dLbl>
            <c:dLbl>
              <c:idx val="7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12-1D81-4556-AA24-A39B30DABF23}"/>
                </c:ext>
              </c:extLst>
            </c:dLbl>
            <c:dLbl>
              <c:idx val="8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13-1D81-4556-AA24-A39B30DABF23}"/>
                </c:ext>
              </c:extLst>
            </c:dLbl>
            <c:dLbl>
              <c:idx val="10"/>
              <c:layout>
                <c:manualLayout>
                  <c:x val="0"/>
                  <c:y val="5.2356020942408377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14-1D81-4556-AA24-A39B30DABF23}"/>
                </c:ext>
              </c:extLst>
            </c:dLbl>
            <c:spPr>
              <a:solidFill>
                <a:prstClr val="white"/>
              </a:solidFill>
              <a:ln>
                <a:noFill/>
              </a:ln>
              <a:effectLst/>
            </c:spPr>
            <c:txPr>
              <a:bodyPr rot="0" spcFirstLastPara="1" vertOverflow="clip" horzOverflow="clip" vert="horz" wrap="square" lIns="38100" tIns="19050" rIns="38100" bIns="19050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chemeClr val="dk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pPr xmlns:c15="http://schemas.microsoft.com/office/drawing/2012/chart">
                  <a:prstGeom prst="accentCallout2">
                    <a:avLst/>
                  </a:prstGeom>
                  <a:noFill/>
                  <a:ln>
                    <a:noFill/>
                  </a:ln>
                </c15:spPr>
                <c15:showLeaderLines val="1"/>
                <c15:leaderLines>
                  <c:spPr>
                    <a:ln w="9525">
                      <a:solidFill>
                        <a:schemeClr val="lt1">
                          <a:lumMod val="95000"/>
                          <a:alpha val="54000"/>
                        </a:schemeClr>
                      </a:solidFill>
                    </a:ln>
                    <a:effectLst/>
                  </c:spPr>
                </c15:leaderLines>
              </c:ext>
            </c:extLst>
          </c:dLbls>
          <c:cat>
            <c:strRef>
              <c:f>'Pivot Table '!$BR$6:$BR$17</c:f>
              <c:strCache>
                <c:ptCount val="12"/>
                <c:pt idx="0">
                  <c:v>Jan</c:v>
                </c:pt>
                <c:pt idx="1">
                  <c:v>Feb</c:v>
                </c:pt>
                <c:pt idx="2">
                  <c:v>Mar</c:v>
                </c:pt>
                <c:pt idx="3">
                  <c:v>Apr</c:v>
                </c:pt>
                <c:pt idx="4">
                  <c:v>May</c:v>
                </c:pt>
                <c:pt idx="5">
                  <c:v>Jun</c:v>
                </c:pt>
                <c:pt idx="6">
                  <c:v>Jul</c:v>
                </c:pt>
                <c:pt idx="7">
                  <c:v>Aug</c:v>
                </c:pt>
                <c:pt idx="8">
                  <c:v>Sep</c:v>
                </c:pt>
                <c:pt idx="9">
                  <c:v>Oct</c:v>
                </c:pt>
                <c:pt idx="10">
                  <c:v>Nov</c:v>
                </c:pt>
                <c:pt idx="11">
                  <c:v>Dec</c:v>
                </c:pt>
              </c:strCache>
            </c:strRef>
          </c:cat>
          <c:val>
            <c:numRef>
              <c:f>'Pivot Table '!$BU$6:$BU$17</c:f>
              <c:numCache>
                <c:formatCode>0.0,"K"</c:formatCode>
                <c:ptCount val="12"/>
                <c:pt idx="0">
                  <c:v>2194.6856000000016</c:v>
                </c:pt>
                <c:pt idx="1">
                  <c:v>-4571.3067000000001</c:v>
                </c:pt>
                <c:pt idx="2">
                  <c:v>4491.1563000000006</c:v>
                </c:pt>
                <c:pt idx="3">
                  <c:v>2398.6719000000003</c:v>
                </c:pt>
                <c:pt idx="4">
                  <c:v>-798.00390000000061</c:v>
                </c:pt>
                <c:pt idx="5">
                  <c:v>1465.6907000000001</c:v>
                </c:pt>
                <c:pt idx="6">
                  <c:v>-172.06709999999998</c:v>
                </c:pt>
                <c:pt idx="7">
                  <c:v>343.99859999999978</c:v>
                </c:pt>
                <c:pt idx="8">
                  <c:v>1730.2750999999987</c:v>
                </c:pt>
                <c:pt idx="9">
                  <c:v>-12789.702800000001</c:v>
                </c:pt>
                <c:pt idx="10">
                  <c:v>-7554.4272999999994</c:v>
                </c:pt>
                <c:pt idx="11">
                  <c:v>-7941.1895999999961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15-1D81-4556-AA24-A39B30DABF23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marker val="1"/>
        <c:smooth val="0"/>
        <c:axId val="14785040"/>
        <c:axId val="14775440"/>
      </c:lineChart>
      <c:catAx>
        <c:axId val="14785040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12700" cap="flat" cmpd="sng" algn="ctr">
            <a:solidFill>
              <a:schemeClr val="lt1">
                <a:lumMod val="95000"/>
                <a:alpha val="54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lt1">
                    <a:lumMod val="8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4775440"/>
        <c:crosses val="autoZero"/>
        <c:auto val="1"/>
        <c:lblAlgn val="ctr"/>
        <c:lblOffset val="100"/>
        <c:noMultiLvlLbl val="0"/>
      </c:catAx>
      <c:valAx>
        <c:axId val="14775440"/>
        <c:scaling>
          <c:orientation val="minMax"/>
        </c:scaling>
        <c:delete val="1"/>
        <c:axPos val="l"/>
        <c:numFmt formatCode="0.0,&quot;K&quot;" sourceLinked="1"/>
        <c:majorTickMark val="none"/>
        <c:minorTickMark val="none"/>
        <c:tickLblPos val="nextTo"/>
        <c:crossAx val="14785040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lt1">
                  <a:lumMod val="8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gradFill flip="none" rotWithShape="1">
      <a:gsLst>
        <a:gs pos="0">
          <a:schemeClr val="dk1">
            <a:lumMod val="65000"/>
            <a:lumOff val="35000"/>
          </a:schemeClr>
        </a:gs>
        <a:gs pos="100000">
          <a:schemeClr val="dk1">
            <a:lumMod val="85000"/>
            <a:lumOff val="15000"/>
          </a:schemeClr>
        </a:gs>
      </a:gsLst>
      <a:path path="circle">
        <a:fillToRect l="50000" t="50000" r="50000" b="50000"/>
      </a:path>
      <a:tileRect/>
    </a:gradFill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.xml><?xml version="1.0" encoding="utf-8"?>
<cs:colorStyle xmlns:cs="http://schemas.microsoft.com/office/drawing/2012/chartStyle" xmlns:a="http://schemas.openxmlformats.org/drawingml/2006/main" meth="cycle" id="13">
  <a:schemeClr val="accent6"/>
  <a:schemeClr val="accent5"/>
  <a:schemeClr val="accent4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3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4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5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328">
  <cs:axisTitle>
    <cs:lnRef idx="0"/>
    <cs:fillRef idx="0"/>
    <cs:effectRef idx="0"/>
    <cs:fontRef idx="minor">
      <a:schemeClr val="lt1">
        <a:lumMod val="85000"/>
      </a:schemeClr>
    </cs:fontRef>
    <cs:defRPr sz="1197" b="1" kern="1200" cap="all"/>
  </cs:axisTitle>
  <cs:categoryAxis>
    <cs:lnRef idx="0"/>
    <cs:fillRef idx="0"/>
    <cs:effectRef idx="0"/>
    <cs:fontRef idx="minor">
      <a:schemeClr val="lt1">
        <a:lumMod val="85000"/>
      </a:schemeClr>
    </cs:fontRef>
    <cs:spPr>
      <a:ln w="12700" cap="flat" cmpd="sng" algn="ctr">
        <a:solidFill>
          <a:schemeClr val="lt1">
            <a:lumMod val="95000"/>
            <a:alpha val="54000"/>
          </a:schemeClr>
        </a:solidFill>
        <a:round/>
      </a:ln>
    </cs:spPr>
    <cs:defRPr sz="1197" kern="1200"/>
  </cs:categoryAxis>
  <cs:chartArea>
    <cs:lnRef idx="0"/>
    <cs:fillRef idx="0"/>
    <cs:effectRef idx="0"/>
    <cs:fontRef idx="minor">
      <a:schemeClr val="dk1"/>
    </cs:fontRef>
    <cs:spPr>
      <a:gradFill flip="none" rotWithShape="1">
        <a:gsLst>
          <a:gs pos="0">
            <a:schemeClr val="dk1">
              <a:lumMod val="65000"/>
              <a:lumOff val="35000"/>
            </a:schemeClr>
          </a:gs>
          <a:gs pos="100000">
            <a:schemeClr val="dk1">
              <a:lumMod val="85000"/>
              <a:lumOff val="15000"/>
            </a:schemeClr>
          </a:gs>
        </a:gsLst>
        <a:path path="circle">
          <a:fillToRect l="50000" t="50000" r="50000" b="50000"/>
        </a:path>
        <a:tileRect/>
      </a:gradFill>
    </cs:spPr>
    <cs:defRPr sz="1330" kern="1200"/>
  </cs:chartArea>
  <cs:dataLabel>
    <cs:lnRef idx="0"/>
    <cs:fillRef idx="0"/>
    <cs:effectRef idx="0"/>
    <cs:fontRef idx="minor">
      <a:schemeClr val="lt1">
        <a:lumMod val="8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3">
      <cs:styleClr val="auto"/>
    </cs:fillRef>
    <cs:effectRef idx="3"/>
    <cs:fontRef idx="minor">
      <a:schemeClr val="tx1"/>
    </cs:fontRef>
  </cs:dataPoint>
  <cs:dataPoint3D>
    <cs:lnRef idx="0"/>
    <cs:fillRef idx="3">
      <cs:styleClr val="auto"/>
    </cs:fillRef>
    <cs:effectRef idx="3"/>
    <cs:fontRef idx="minor">
      <a:schemeClr val="tx1"/>
    </cs:fontRef>
  </cs:dataPoint3D>
  <cs:dataPointLine>
    <cs:lnRef idx="0">
      <cs:styleClr val="auto"/>
    </cs:lnRef>
    <cs:fillRef idx="3"/>
    <cs:effectRef idx="3"/>
    <cs:fontRef idx="minor">
      <a:schemeClr val="tx1"/>
    </cs:fontRef>
    <cs:spPr>
      <a:ln w="3492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3">
      <cs:styleClr val="auto"/>
    </cs:fillRef>
    <cs:effectRef idx="3"/>
    <cs:fontRef idx="minor">
      <a:schemeClr val="tx1"/>
    </cs:fontRef>
    <cs:spPr>
      <a:ln w="9525">
        <a:solidFill>
          <a:schemeClr val="phClr"/>
        </a:solidFill>
        <a:round/>
      </a:ln>
    </cs:spPr>
  </cs:dataPointMarker>
  <cs:dataPointMarkerLayout symbol="circle" size="6"/>
  <cs:dataPointWireframe>
    <cs:lnRef idx="0">
      <cs:styleClr val="auto"/>
    </cs:lnRef>
    <cs:fillRef idx="3"/>
    <cs:effectRef idx="3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lt1">
        <a:lumMod val="85000"/>
      </a:schemeClr>
    </cs:fontRef>
    <cs:spPr>
      <a:ln w="9525">
        <a:solidFill>
          <a:schemeClr val="lt1">
            <a:lumMod val="95000"/>
            <a:alpha val="54000"/>
          </a:schemeClr>
        </a:solidFill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gradFill>
        <a:gsLst>
          <a:gs pos="100000">
            <a:schemeClr val="dk1">
              <a:lumMod val="95000"/>
              <a:lumOff val="5000"/>
            </a:schemeClr>
          </a:gs>
          <a:gs pos="0">
            <a:schemeClr val="dk1">
              <a:lumMod val="75000"/>
              <a:lumOff val="25000"/>
            </a:schemeClr>
          </a:gs>
        </a:gsLst>
        <a:path path="circle">
          <a:fillToRect l="50000" t="50000" r="50000" b="50000"/>
        </a:path>
      </a:gradFill>
      <a:ln w="9525">
        <a:solidFill>
          <a:schemeClr val="dk1">
            <a:lumMod val="75000"/>
            <a:lumOff val="2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lt1"/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lt1">
            <a:lumMod val="9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lt1">
            <a:lumMod val="95000"/>
            <a:alpha val="10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>
        <a:solidFill>
          <a:schemeClr val="lt1">
            <a:lumMod val="95000"/>
            <a:alpha val="5000"/>
          </a:schemeClr>
        </a:solidFill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lt1"/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>
        <a:solidFill>
          <a:schemeClr val="lt1">
            <a:lumMod val="95000"/>
            <a:alpha val="54000"/>
          </a:schemeClr>
        </a:solidFill>
      </a:ln>
    </cs:spPr>
  </cs:leaderLine>
  <cs:legend>
    <cs:lnRef idx="0"/>
    <cs:fillRef idx="0"/>
    <cs:effectRef idx="0"/>
    <cs:fontRef idx="minor">
      <a:schemeClr val="lt1">
        <a:lumMod val="85000"/>
      </a:schemeClr>
    </cs:fontRef>
    <cs:defRPr sz="1197" kern="1200"/>
  </cs:legend>
  <cs:plotArea>
    <cs:lnRef idx="0"/>
    <cs:fillRef idx="0"/>
    <cs:effectRef idx="0"/>
    <cs:fontRef idx="minor">
      <a:schemeClr val="tx1"/>
    </cs:fontRef>
  </cs:plotArea>
  <cs:plotArea3D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lt1">
        <a:lumMod val="85000"/>
      </a:schemeClr>
    </cs:fontRef>
    <cs:spPr>
      <a:ln w="12700" cap="flat" cmpd="sng" algn="ctr">
        <a:solidFill>
          <a:schemeClr val="lt1">
            <a:lumMod val="95000"/>
            <a:alpha val="54000"/>
          </a:schemeClr>
        </a:solidFill>
        <a:round/>
      </a:ln>
    </cs:spPr>
    <cs:defRPr sz="1197" kern="1200"/>
  </cs:seriesAxis>
  <cs:seriesLine>
    <cs:lnRef idx="0"/>
    <cs:fillRef idx="0"/>
    <cs:effectRef idx="0"/>
    <cs:fontRef idx="minor">
      <a:schemeClr val="lt1"/>
    </cs:fontRef>
    <cs:spPr>
      <a:ln w="9525" cap="flat" cmpd="sng" algn="ctr">
        <a:solidFill>
          <a:schemeClr val="lt1">
            <a:lumMod val="95000"/>
            <a:alpha val="54000"/>
          </a:schemeClr>
        </a:solidFill>
        <a:round/>
      </a:ln>
    </cs:spPr>
  </cs:seriesLine>
  <cs:title>
    <cs:lnRef idx="0"/>
    <cs:fillRef idx="0"/>
    <cs:effectRef idx="0"/>
    <cs:fontRef idx="minor">
      <a:schemeClr val="lt1">
        <a:lumMod val="95000"/>
      </a:schemeClr>
    </cs:fontRef>
    <cs:defRPr sz="2128" b="1" kern="1200" spc="100" baseline="0">
      <a:effectLst>
        <a:outerShdw blurRad="50800" dist="38100" dir="5400000" algn="t" rotWithShape="0">
          <a:prstClr val="black">
            <a:alpha val="40000"/>
          </a:prstClr>
        </a:outerShdw>
      </a:effectLst>
    </cs:defRPr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</a:ln>
    </cs:spPr>
  </cs:trendline>
  <cs:trendlineLabel>
    <cs:lnRef idx="0"/>
    <cs:fillRef idx="0"/>
    <cs:effectRef idx="0"/>
    <cs:fontRef idx="minor">
      <a:schemeClr val="lt1">
        <a:lumMod val="8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gradFill>
        <a:gsLst>
          <a:gs pos="100000">
            <a:schemeClr val="lt1">
              <a:lumMod val="85000"/>
            </a:schemeClr>
          </a:gs>
          <a:gs pos="0">
            <a:schemeClr val="lt1"/>
          </a:gs>
        </a:gsLst>
        <a:path path="circle">
          <a:fillToRect l="50000" t="50000" r="50000" b="50000"/>
        </a:path>
      </a:gradFill>
      <a:ln w="9525" cap="flat" cmpd="sng" algn="ctr">
        <a:solidFill>
          <a:schemeClr val="lt1"/>
        </a:solidFill>
        <a:round/>
      </a:ln>
    </cs:spPr>
  </cs:upBar>
  <cs:valueAxis>
    <cs:lnRef idx="0"/>
    <cs:fillRef idx="0"/>
    <cs:effectRef idx="0"/>
    <cs:fontRef idx="minor">
      <a:schemeClr val="lt1">
        <a:lumMod val="85000"/>
      </a:schemeClr>
    </cs:fontRef>
    <cs:defRPr sz="1197" kern="1200"/>
  </cs:valueAxis>
  <cs:wall>
    <cs:lnRef idx="0"/>
    <cs:fillRef idx="0"/>
    <cs:effectRef idx="0"/>
    <cs:fontRef idx="minor">
      <a:schemeClr val="tx1"/>
    </cs:fontRef>
  </cs:wall>
</cs:chartStyle>
</file>

<file path=ppt/charts/style2.xml><?xml version="1.0" encoding="utf-8"?>
<cs:chartStyle xmlns:cs="http://schemas.microsoft.com/office/drawing/2012/chartStyle" xmlns:a="http://schemas.openxmlformats.org/drawingml/2006/main" id="209">
  <cs:axisTitle>
    <cs:lnRef idx="0"/>
    <cs:fillRef idx="0"/>
    <cs:effectRef idx="0"/>
    <cs:fontRef idx="minor">
      <a:schemeClr val="lt1">
        <a:lumMod val="85000"/>
      </a:schemeClr>
    </cs:fontRef>
    <cs:defRPr sz="1197" b="1" kern="1200" cap="all"/>
  </cs:axisTitle>
  <cs:categoryAxis>
    <cs:lnRef idx="0"/>
    <cs:fillRef idx="0"/>
    <cs:effectRef idx="0"/>
    <cs:fontRef idx="minor">
      <a:schemeClr val="lt1">
        <a:lumMod val="85000"/>
      </a:schemeClr>
    </cs:fontRef>
    <cs:spPr>
      <a:ln w="12700" cap="flat" cmpd="sng" algn="ctr">
        <a:solidFill>
          <a:schemeClr val="lt1">
            <a:lumMod val="95000"/>
            <a:alpha val="54000"/>
          </a:schemeClr>
        </a:solidFill>
        <a:round/>
      </a:ln>
    </cs:spPr>
    <cs:defRPr sz="1197" kern="1200"/>
  </cs:categoryAxis>
  <cs:chartArea>
    <cs:lnRef idx="0"/>
    <cs:fillRef idx="0"/>
    <cs:effectRef idx="0"/>
    <cs:fontRef idx="minor">
      <a:schemeClr val="dk1"/>
    </cs:fontRef>
    <cs:spPr>
      <a:gradFill flip="none" rotWithShape="1">
        <a:gsLst>
          <a:gs pos="0">
            <a:schemeClr val="dk1">
              <a:lumMod val="65000"/>
              <a:lumOff val="35000"/>
            </a:schemeClr>
          </a:gs>
          <a:gs pos="100000">
            <a:schemeClr val="dk1">
              <a:lumMod val="85000"/>
              <a:lumOff val="15000"/>
            </a:schemeClr>
          </a:gs>
        </a:gsLst>
        <a:path path="circle">
          <a:fillToRect l="50000" t="50000" r="50000" b="50000"/>
        </a:path>
        <a:tileRect/>
      </a:gradFill>
    </cs:spPr>
    <cs:defRPr sz="1330" kern="1200"/>
  </cs:chartArea>
  <cs:dataLabel>
    <cs:lnRef idx="0"/>
    <cs:fillRef idx="0"/>
    <cs:effectRef idx="0"/>
    <cs:fontRef idx="minor">
      <a:schemeClr val="lt1">
        <a:lumMod val="8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3">
      <cs:styleClr val="auto"/>
    </cs:fillRef>
    <cs:effectRef idx="3"/>
    <cs:fontRef idx="minor">
      <a:schemeClr val="lt1"/>
    </cs:fontRef>
  </cs:dataPoint>
  <cs:dataPoint3D>
    <cs:lnRef idx="0"/>
    <cs:fillRef idx="3">
      <cs:styleClr val="auto"/>
    </cs:fillRef>
    <cs:effectRef idx="3"/>
    <cs:fontRef idx="minor">
      <a:schemeClr val="lt1"/>
    </cs:fontRef>
  </cs:dataPoint3D>
  <cs:dataPointLine>
    <cs:lnRef idx="0">
      <cs:styleClr val="auto"/>
    </cs:lnRef>
    <cs:fillRef idx="3"/>
    <cs:effectRef idx="3"/>
    <cs:fontRef idx="minor">
      <a:schemeClr val="lt1"/>
    </cs:fontRef>
    <cs:spPr>
      <a:ln w="3492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3">
      <cs:styleClr val="auto"/>
    </cs:fillRef>
    <cs:effectRef idx="3"/>
    <cs:fontRef idx="minor">
      <a:schemeClr val="lt1"/>
    </cs:fontRef>
    <cs:spPr>
      <a:ln w="9525">
        <a:solidFill>
          <a:schemeClr val="phClr"/>
        </a:solidFill>
        <a:round/>
      </a:ln>
    </cs:spPr>
  </cs:dataPointMarker>
  <cs:dataPointMarkerLayout symbol="circle" size="6"/>
  <cs:dataPointWireframe>
    <cs:lnRef idx="0">
      <cs:styleClr val="auto"/>
    </cs:lnRef>
    <cs:fillRef idx="3"/>
    <cs:effectRef idx="3"/>
    <cs:fontRef idx="minor">
      <a:schemeClr val="lt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lt1">
        <a:lumMod val="85000"/>
      </a:schemeClr>
    </cs:fontRef>
    <cs:spPr>
      <a:ln w="9525">
        <a:solidFill>
          <a:schemeClr val="lt1">
            <a:lumMod val="95000"/>
            <a:alpha val="54000"/>
          </a:schemeClr>
        </a:solidFill>
      </a:ln>
    </cs:spPr>
    <cs:defRPr sz="1197" kern="1200"/>
  </cs:dataTable>
  <cs:downBar>
    <cs:lnRef idx="0"/>
    <cs:fillRef idx="0"/>
    <cs:effectRef idx="0"/>
    <cs:fontRef idx="minor">
      <a:schemeClr val="lt1"/>
    </cs:fontRef>
    <cs:spPr>
      <a:solidFill>
        <a:schemeClr val="dk1">
          <a:lumMod val="75000"/>
          <a:lumOff val="25000"/>
        </a:schemeClr>
      </a:solidFill>
      <a:ln w="9525">
        <a:solidFill>
          <a:schemeClr val="lt1">
            <a:lumMod val="95000"/>
            <a:alpha val="54000"/>
          </a:schemeClr>
        </a:solidFill>
      </a:ln>
    </cs:spPr>
  </cs:downBar>
  <cs:dropLine>
    <cs:lnRef idx="0"/>
    <cs:fillRef idx="0"/>
    <cs:effectRef idx="0"/>
    <cs:fontRef idx="minor">
      <a:schemeClr val="lt1"/>
    </cs:fontRef>
    <cs:spPr>
      <a:ln w="9525">
        <a:solidFill>
          <a:schemeClr val="lt1">
            <a:lumMod val="95000"/>
            <a:alpha val="54000"/>
          </a:schemeClr>
        </a:solidFill>
        <a:prstDash val="dash"/>
      </a:ln>
    </cs:spPr>
  </cs:dropLine>
  <cs:errorBar>
    <cs:lnRef idx="0"/>
    <cs:fillRef idx="0"/>
    <cs:effectRef idx="0"/>
    <cs:fontRef idx="minor">
      <a:schemeClr val="lt1"/>
    </cs:fontRef>
    <cs:spPr>
      <a:ln w="9525" cap="flat" cmpd="sng" algn="ctr">
        <a:solidFill>
          <a:schemeClr val="lt1">
            <a:lumMod val="95000"/>
          </a:schemeClr>
        </a:solidFill>
        <a:round/>
      </a:ln>
    </cs:spPr>
  </cs:errorBar>
  <cs:floor>
    <cs:lnRef idx="0"/>
    <cs:fillRef idx="0"/>
    <cs:effectRef idx="0"/>
    <cs:fontRef idx="minor">
      <a:schemeClr val="lt1"/>
    </cs:fontRef>
  </cs:floor>
  <cs:gridlineMajor>
    <cs:lnRef idx="0"/>
    <cs:fillRef idx="0"/>
    <cs:effectRef idx="0"/>
    <cs:fontRef idx="minor">
      <a:schemeClr val="lt1"/>
    </cs:fontRef>
    <cs:spPr>
      <a:ln w="9525" cap="flat" cmpd="sng" algn="ctr">
        <a:solidFill>
          <a:schemeClr val="lt1">
            <a:lumMod val="95000"/>
            <a:alpha val="10000"/>
          </a:schemeClr>
        </a:solidFill>
        <a:round/>
      </a:ln>
    </cs:spPr>
  </cs:gridlineMajor>
  <cs:gridlineMinor>
    <cs:lnRef idx="0"/>
    <cs:fillRef idx="0"/>
    <cs:effectRef idx="0"/>
    <cs:fontRef idx="minor">
      <a:schemeClr val="lt1"/>
    </cs:fontRef>
    <cs:spPr>
      <a:ln>
        <a:solidFill>
          <a:schemeClr val="lt1">
            <a:lumMod val="95000"/>
            <a:alpha val="5000"/>
          </a:schemeClr>
        </a:solidFill>
      </a:ln>
    </cs:spPr>
  </cs:gridlineMinor>
  <cs:hiLoLine>
    <cs:lnRef idx="0"/>
    <cs:fillRef idx="0"/>
    <cs:effectRef idx="0"/>
    <cs:fontRef idx="minor">
      <a:schemeClr val="lt1"/>
    </cs:fontRef>
    <cs:spPr>
      <a:ln w="9525">
        <a:solidFill>
          <a:schemeClr val="lt1">
            <a:lumMod val="95000"/>
            <a:alpha val="54000"/>
          </a:schemeClr>
        </a:solidFill>
        <a:prstDash val="dash"/>
      </a:ln>
    </cs:spPr>
  </cs:hiLoLine>
  <cs:leaderLine>
    <cs:lnRef idx="0"/>
    <cs:fillRef idx="0"/>
    <cs:effectRef idx="0"/>
    <cs:fontRef idx="minor">
      <a:schemeClr val="lt1"/>
    </cs:fontRef>
    <cs:spPr>
      <a:ln w="9525">
        <a:solidFill>
          <a:schemeClr val="lt1">
            <a:lumMod val="95000"/>
            <a:alpha val="54000"/>
          </a:schemeClr>
        </a:solidFill>
      </a:ln>
    </cs:spPr>
  </cs:leaderLine>
  <cs:legend>
    <cs:lnRef idx="0"/>
    <cs:fillRef idx="0"/>
    <cs:effectRef idx="0"/>
    <cs:fontRef idx="minor">
      <a:schemeClr val="lt1">
        <a:lumMod val="85000"/>
      </a:schemeClr>
    </cs:fontRef>
    <cs:defRPr sz="1197" kern="1200"/>
  </cs:legend>
  <cs:plotArea>
    <cs:lnRef idx="0"/>
    <cs:fillRef idx="0"/>
    <cs:effectRef idx="0"/>
    <cs:fontRef idx="minor">
      <a:schemeClr val="lt1"/>
    </cs:fontRef>
  </cs:plotArea>
  <cs:plotArea3D>
    <cs:lnRef idx="0"/>
    <cs:fillRef idx="0"/>
    <cs:effectRef idx="0"/>
    <cs:fontRef idx="minor">
      <a:schemeClr val="lt1"/>
    </cs:fontRef>
  </cs:plotArea3D>
  <cs:seriesAxis>
    <cs:lnRef idx="0"/>
    <cs:fillRef idx="0"/>
    <cs:effectRef idx="0"/>
    <cs:fontRef idx="minor">
      <a:schemeClr val="lt1">
        <a:lumMod val="85000"/>
      </a:schemeClr>
    </cs:fontRef>
    <cs:spPr>
      <a:ln w="12700" cap="flat" cmpd="sng" algn="ctr">
        <a:solidFill>
          <a:schemeClr val="lt1">
            <a:lumMod val="95000"/>
            <a:alpha val="54000"/>
          </a:schemeClr>
        </a:solidFill>
        <a:round/>
      </a:ln>
    </cs:spPr>
    <cs:defRPr sz="1197" kern="1200"/>
  </cs:seriesAxis>
  <cs:seriesLine>
    <cs:lnRef idx="0"/>
    <cs:fillRef idx="0"/>
    <cs:effectRef idx="0"/>
    <cs:fontRef idx="minor">
      <a:schemeClr val="lt1"/>
    </cs:fontRef>
    <cs:spPr>
      <a:ln w="9525" cap="flat" cmpd="sng" algn="ctr">
        <a:solidFill>
          <a:schemeClr val="lt1">
            <a:lumMod val="95000"/>
            <a:alpha val="54000"/>
          </a:schemeClr>
        </a:solidFill>
        <a:round/>
      </a:ln>
    </cs:spPr>
  </cs:seriesLine>
  <cs:title>
    <cs:lnRef idx="0"/>
    <cs:fillRef idx="0"/>
    <cs:effectRef idx="0"/>
    <cs:fontRef idx="minor">
      <a:schemeClr val="lt1">
        <a:lumMod val="95000"/>
      </a:schemeClr>
    </cs:fontRef>
    <cs:defRPr sz="2128" b="1" kern="1200" spc="100" baseline="0">
      <a:effectLst>
        <a:outerShdw blurRad="50800" dist="38100" dir="5400000" algn="t" rotWithShape="0">
          <a:prstClr val="black">
            <a:alpha val="40000"/>
          </a:prstClr>
        </a:outerShdw>
      </a:effectLst>
    </cs:defRPr>
  </cs:title>
  <cs:trendline>
    <cs:lnRef idx="0">
      <cs:styleClr val="auto"/>
    </cs:lnRef>
    <cs:fillRef idx="0"/>
    <cs:effectRef idx="0"/>
    <cs:fontRef idx="minor">
      <a:schemeClr val="lt1"/>
    </cs:fontRef>
    <cs:spPr>
      <a:ln w="19050" cap="rnd">
        <a:solidFill>
          <a:schemeClr val="phClr"/>
        </a:solidFill>
      </a:ln>
    </cs:spPr>
  </cs:trendline>
  <cs:trendlineLabel>
    <cs:lnRef idx="0"/>
    <cs:fillRef idx="0"/>
    <cs:effectRef idx="0"/>
    <cs:fontRef idx="minor">
      <a:schemeClr val="lt1">
        <a:lumMod val="85000"/>
      </a:schemeClr>
    </cs:fontRef>
    <cs:defRPr sz="1197" kern="1200"/>
  </cs:trendlineLabel>
  <cs:upBar>
    <cs:lnRef idx="0"/>
    <cs:fillRef idx="0"/>
    <cs:effectRef idx="0"/>
    <cs:fontRef idx="minor">
      <a:schemeClr val="lt1"/>
    </cs:fontRef>
    <cs:spPr>
      <a:solidFill>
        <a:schemeClr val="lt1"/>
      </a:solidFill>
      <a:ln w="9525">
        <a:solidFill>
          <a:schemeClr val="lt1">
            <a:lumMod val="95000"/>
            <a:alpha val="54000"/>
          </a:schemeClr>
        </a:solidFill>
      </a:ln>
    </cs:spPr>
  </cs:upBar>
  <cs:valueAxis>
    <cs:lnRef idx="0"/>
    <cs:fillRef idx="0"/>
    <cs:effectRef idx="0"/>
    <cs:fontRef idx="minor">
      <a:schemeClr val="lt1">
        <a:lumMod val="85000"/>
      </a:schemeClr>
    </cs:fontRef>
    <cs:defRPr sz="1197" kern="1200"/>
  </cs:valueAxis>
  <cs:wall>
    <cs:lnRef idx="0"/>
    <cs:fillRef idx="0"/>
    <cs:effectRef idx="0"/>
    <cs:fontRef idx="minor">
      <a:schemeClr val="lt1"/>
    </cs:fontRef>
  </cs:wall>
</cs:chartStyle>
</file>

<file path=ppt/charts/style3.xml><?xml version="1.0" encoding="utf-8"?>
<cs:chartStyle xmlns:cs="http://schemas.microsoft.com/office/drawing/2012/chartStyle" xmlns:a="http://schemas.openxmlformats.org/drawingml/2006/main" id="209">
  <cs:axisTitle>
    <cs:lnRef idx="0"/>
    <cs:fillRef idx="0"/>
    <cs:effectRef idx="0"/>
    <cs:fontRef idx="minor">
      <a:schemeClr val="lt1">
        <a:lumMod val="85000"/>
      </a:schemeClr>
    </cs:fontRef>
    <cs:defRPr sz="1197" b="1" kern="1200" cap="all"/>
  </cs:axisTitle>
  <cs:categoryAxis>
    <cs:lnRef idx="0"/>
    <cs:fillRef idx="0"/>
    <cs:effectRef idx="0"/>
    <cs:fontRef idx="minor">
      <a:schemeClr val="lt1">
        <a:lumMod val="85000"/>
      </a:schemeClr>
    </cs:fontRef>
    <cs:spPr>
      <a:ln w="12700" cap="flat" cmpd="sng" algn="ctr">
        <a:solidFill>
          <a:schemeClr val="lt1">
            <a:lumMod val="95000"/>
            <a:alpha val="54000"/>
          </a:schemeClr>
        </a:solidFill>
        <a:round/>
      </a:ln>
    </cs:spPr>
    <cs:defRPr sz="1197" kern="1200"/>
  </cs:categoryAxis>
  <cs:chartArea>
    <cs:lnRef idx="0"/>
    <cs:fillRef idx="0"/>
    <cs:effectRef idx="0"/>
    <cs:fontRef idx="minor">
      <a:schemeClr val="dk1"/>
    </cs:fontRef>
    <cs:spPr>
      <a:gradFill flip="none" rotWithShape="1">
        <a:gsLst>
          <a:gs pos="0">
            <a:schemeClr val="dk1">
              <a:lumMod val="65000"/>
              <a:lumOff val="35000"/>
            </a:schemeClr>
          </a:gs>
          <a:gs pos="100000">
            <a:schemeClr val="dk1">
              <a:lumMod val="85000"/>
              <a:lumOff val="15000"/>
            </a:schemeClr>
          </a:gs>
        </a:gsLst>
        <a:path path="circle">
          <a:fillToRect l="50000" t="50000" r="50000" b="50000"/>
        </a:path>
        <a:tileRect/>
      </a:gradFill>
    </cs:spPr>
    <cs:defRPr sz="1330" kern="1200"/>
  </cs:chartArea>
  <cs:dataLabel>
    <cs:lnRef idx="0"/>
    <cs:fillRef idx="0"/>
    <cs:effectRef idx="0"/>
    <cs:fontRef idx="minor">
      <a:schemeClr val="lt1">
        <a:lumMod val="8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3">
      <cs:styleClr val="auto"/>
    </cs:fillRef>
    <cs:effectRef idx="3"/>
    <cs:fontRef idx="minor">
      <a:schemeClr val="lt1"/>
    </cs:fontRef>
  </cs:dataPoint>
  <cs:dataPoint3D>
    <cs:lnRef idx="0"/>
    <cs:fillRef idx="3">
      <cs:styleClr val="auto"/>
    </cs:fillRef>
    <cs:effectRef idx="3"/>
    <cs:fontRef idx="minor">
      <a:schemeClr val="lt1"/>
    </cs:fontRef>
  </cs:dataPoint3D>
  <cs:dataPointLine>
    <cs:lnRef idx="0">
      <cs:styleClr val="auto"/>
    </cs:lnRef>
    <cs:fillRef idx="3"/>
    <cs:effectRef idx="3"/>
    <cs:fontRef idx="minor">
      <a:schemeClr val="lt1"/>
    </cs:fontRef>
    <cs:spPr>
      <a:ln w="3492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3">
      <cs:styleClr val="auto"/>
    </cs:fillRef>
    <cs:effectRef idx="3"/>
    <cs:fontRef idx="minor">
      <a:schemeClr val="lt1"/>
    </cs:fontRef>
    <cs:spPr>
      <a:ln w="9525">
        <a:solidFill>
          <a:schemeClr val="phClr"/>
        </a:solidFill>
        <a:round/>
      </a:ln>
    </cs:spPr>
  </cs:dataPointMarker>
  <cs:dataPointMarkerLayout symbol="circle" size="6"/>
  <cs:dataPointWireframe>
    <cs:lnRef idx="0">
      <cs:styleClr val="auto"/>
    </cs:lnRef>
    <cs:fillRef idx="3"/>
    <cs:effectRef idx="3"/>
    <cs:fontRef idx="minor">
      <a:schemeClr val="lt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lt1">
        <a:lumMod val="85000"/>
      </a:schemeClr>
    </cs:fontRef>
    <cs:spPr>
      <a:ln w="9525">
        <a:solidFill>
          <a:schemeClr val="lt1">
            <a:lumMod val="95000"/>
            <a:alpha val="54000"/>
          </a:schemeClr>
        </a:solidFill>
      </a:ln>
    </cs:spPr>
    <cs:defRPr sz="1197" kern="1200"/>
  </cs:dataTable>
  <cs:downBar>
    <cs:lnRef idx="0"/>
    <cs:fillRef idx="0"/>
    <cs:effectRef idx="0"/>
    <cs:fontRef idx="minor">
      <a:schemeClr val="lt1"/>
    </cs:fontRef>
    <cs:spPr>
      <a:solidFill>
        <a:schemeClr val="dk1">
          <a:lumMod val="75000"/>
          <a:lumOff val="25000"/>
        </a:schemeClr>
      </a:solidFill>
      <a:ln w="9525">
        <a:solidFill>
          <a:schemeClr val="lt1">
            <a:lumMod val="95000"/>
            <a:alpha val="54000"/>
          </a:schemeClr>
        </a:solidFill>
      </a:ln>
    </cs:spPr>
  </cs:downBar>
  <cs:dropLine>
    <cs:lnRef idx="0"/>
    <cs:fillRef idx="0"/>
    <cs:effectRef idx="0"/>
    <cs:fontRef idx="minor">
      <a:schemeClr val="lt1"/>
    </cs:fontRef>
    <cs:spPr>
      <a:ln w="9525">
        <a:solidFill>
          <a:schemeClr val="lt1">
            <a:lumMod val="95000"/>
            <a:alpha val="54000"/>
          </a:schemeClr>
        </a:solidFill>
        <a:prstDash val="dash"/>
      </a:ln>
    </cs:spPr>
  </cs:dropLine>
  <cs:errorBar>
    <cs:lnRef idx="0"/>
    <cs:fillRef idx="0"/>
    <cs:effectRef idx="0"/>
    <cs:fontRef idx="minor">
      <a:schemeClr val="lt1"/>
    </cs:fontRef>
    <cs:spPr>
      <a:ln w="9525" cap="flat" cmpd="sng" algn="ctr">
        <a:solidFill>
          <a:schemeClr val="lt1">
            <a:lumMod val="95000"/>
          </a:schemeClr>
        </a:solidFill>
        <a:round/>
      </a:ln>
    </cs:spPr>
  </cs:errorBar>
  <cs:floor>
    <cs:lnRef idx="0"/>
    <cs:fillRef idx="0"/>
    <cs:effectRef idx="0"/>
    <cs:fontRef idx="minor">
      <a:schemeClr val="lt1"/>
    </cs:fontRef>
  </cs:floor>
  <cs:gridlineMajor>
    <cs:lnRef idx="0"/>
    <cs:fillRef idx="0"/>
    <cs:effectRef idx="0"/>
    <cs:fontRef idx="minor">
      <a:schemeClr val="lt1"/>
    </cs:fontRef>
    <cs:spPr>
      <a:ln w="9525" cap="flat" cmpd="sng" algn="ctr">
        <a:solidFill>
          <a:schemeClr val="lt1">
            <a:lumMod val="95000"/>
            <a:alpha val="10000"/>
          </a:schemeClr>
        </a:solidFill>
        <a:round/>
      </a:ln>
    </cs:spPr>
  </cs:gridlineMajor>
  <cs:gridlineMinor>
    <cs:lnRef idx="0"/>
    <cs:fillRef idx="0"/>
    <cs:effectRef idx="0"/>
    <cs:fontRef idx="minor">
      <a:schemeClr val="lt1"/>
    </cs:fontRef>
    <cs:spPr>
      <a:ln>
        <a:solidFill>
          <a:schemeClr val="lt1">
            <a:lumMod val="95000"/>
            <a:alpha val="5000"/>
          </a:schemeClr>
        </a:solidFill>
      </a:ln>
    </cs:spPr>
  </cs:gridlineMinor>
  <cs:hiLoLine>
    <cs:lnRef idx="0"/>
    <cs:fillRef idx="0"/>
    <cs:effectRef idx="0"/>
    <cs:fontRef idx="minor">
      <a:schemeClr val="lt1"/>
    </cs:fontRef>
    <cs:spPr>
      <a:ln w="9525">
        <a:solidFill>
          <a:schemeClr val="lt1">
            <a:lumMod val="95000"/>
            <a:alpha val="54000"/>
          </a:schemeClr>
        </a:solidFill>
        <a:prstDash val="dash"/>
      </a:ln>
    </cs:spPr>
  </cs:hiLoLine>
  <cs:leaderLine>
    <cs:lnRef idx="0"/>
    <cs:fillRef idx="0"/>
    <cs:effectRef idx="0"/>
    <cs:fontRef idx="minor">
      <a:schemeClr val="lt1"/>
    </cs:fontRef>
    <cs:spPr>
      <a:ln w="9525">
        <a:solidFill>
          <a:schemeClr val="lt1">
            <a:lumMod val="95000"/>
            <a:alpha val="54000"/>
          </a:schemeClr>
        </a:solidFill>
      </a:ln>
    </cs:spPr>
  </cs:leaderLine>
  <cs:legend>
    <cs:lnRef idx="0"/>
    <cs:fillRef idx="0"/>
    <cs:effectRef idx="0"/>
    <cs:fontRef idx="minor">
      <a:schemeClr val="lt1">
        <a:lumMod val="85000"/>
      </a:schemeClr>
    </cs:fontRef>
    <cs:defRPr sz="1197" kern="1200"/>
  </cs:legend>
  <cs:plotArea>
    <cs:lnRef idx="0"/>
    <cs:fillRef idx="0"/>
    <cs:effectRef idx="0"/>
    <cs:fontRef idx="minor">
      <a:schemeClr val="lt1"/>
    </cs:fontRef>
  </cs:plotArea>
  <cs:plotArea3D>
    <cs:lnRef idx="0"/>
    <cs:fillRef idx="0"/>
    <cs:effectRef idx="0"/>
    <cs:fontRef idx="minor">
      <a:schemeClr val="lt1"/>
    </cs:fontRef>
  </cs:plotArea3D>
  <cs:seriesAxis>
    <cs:lnRef idx="0"/>
    <cs:fillRef idx="0"/>
    <cs:effectRef idx="0"/>
    <cs:fontRef idx="minor">
      <a:schemeClr val="lt1">
        <a:lumMod val="85000"/>
      </a:schemeClr>
    </cs:fontRef>
    <cs:spPr>
      <a:ln w="12700" cap="flat" cmpd="sng" algn="ctr">
        <a:solidFill>
          <a:schemeClr val="lt1">
            <a:lumMod val="95000"/>
            <a:alpha val="54000"/>
          </a:schemeClr>
        </a:solidFill>
        <a:round/>
      </a:ln>
    </cs:spPr>
    <cs:defRPr sz="1197" kern="1200"/>
  </cs:seriesAxis>
  <cs:seriesLine>
    <cs:lnRef idx="0"/>
    <cs:fillRef idx="0"/>
    <cs:effectRef idx="0"/>
    <cs:fontRef idx="minor">
      <a:schemeClr val="lt1"/>
    </cs:fontRef>
    <cs:spPr>
      <a:ln w="9525" cap="flat" cmpd="sng" algn="ctr">
        <a:solidFill>
          <a:schemeClr val="lt1">
            <a:lumMod val="95000"/>
            <a:alpha val="54000"/>
          </a:schemeClr>
        </a:solidFill>
        <a:round/>
      </a:ln>
    </cs:spPr>
  </cs:seriesLine>
  <cs:title>
    <cs:lnRef idx="0"/>
    <cs:fillRef idx="0"/>
    <cs:effectRef idx="0"/>
    <cs:fontRef idx="minor">
      <a:schemeClr val="lt1">
        <a:lumMod val="95000"/>
      </a:schemeClr>
    </cs:fontRef>
    <cs:defRPr sz="2128" b="1" kern="1200" spc="100" baseline="0">
      <a:effectLst>
        <a:outerShdw blurRad="50800" dist="38100" dir="5400000" algn="t" rotWithShape="0">
          <a:prstClr val="black">
            <a:alpha val="40000"/>
          </a:prstClr>
        </a:outerShdw>
      </a:effectLst>
    </cs:defRPr>
  </cs:title>
  <cs:trendline>
    <cs:lnRef idx="0">
      <cs:styleClr val="auto"/>
    </cs:lnRef>
    <cs:fillRef idx="0"/>
    <cs:effectRef idx="0"/>
    <cs:fontRef idx="minor">
      <a:schemeClr val="lt1"/>
    </cs:fontRef>
    <cs:spPr>
      <a:ln w="19050" cap="rnd">
        <a:solidFill>
          <a:schemeClr val="phClr"/>
        </a:solidFill>
      </a:ln>
    </cs:spPr>
  </cs:trendline>
  <cs:trendlineLabel>
    <cs:lnRef idx="0"/>
    <cs:fillRef idx="0"/>
    <cs:effectRef idx="0"/>
    <cs:fontRef idx="minor">
      <a:schemeClr val="lt1">
        <a:lumMod val="85000"/>
      </a:schemeClr>
    </cs:fontRef>
    <cs:defRPr sz="1197" kern="1200"/>
  </cs:trendlineLabel>
  <cs:upBar>
    <cs:lnRef idx="0"/>
    <cs:fillRef idx="0"/>
    <cs:effectRef idx="0"/>
    <cs:fontRef idx="minor">
      <a:schemeClr val="lt1"/>
    </cs:fontRef>
    <cs:spPr>
      <a:solidFill>
        <a:schemeClr val="lt1"/>
      </a:solidFill>
      <a:ln w="9525">
        <a:solidFill>
          <a:schemeClr val="lt1">
            <a:lumMod val="95000"/>
            <a:alpha val="54000"/>
          </a:schemeClr>
        </a:solidFill>
      </a:ln>
    </cs:spPr>
  </cs:upBar>
  <cs:valueAxis>
    <cs:lnRef idx="0"/>
    <cs:fillRef idx="0"/>
    <cs:effectRef idx="0"/>
    <cs:fontRef idx="minor">
      <a:schemeClr val="lt1">
        <a:lumMod val="85000"/>
      </a:schemeClr>
    </cs:fontRef>
    <cs:defRPr sz="1197" kern="1200"/>
  </cs:valueAxis>
  <cs:wall>
    <cs:lnRef idx="0"/>
    <cs:fillRef idx="0"/>
    <cs:effectRef idx="0"/>
    <cs:fontRef idx="minor">
      <a:schemeClr val="lt1"/>
    </cs:fontRef>
  </cs:wall>
</cs:chartStyle>
</file>

<file path=ppt/charts/style4.xml><?xml version="1.0" encoding="utf-8"?>
<cs:chartStyle xmlns:cs="http://schemas.microsoft.com/office/drawing/2012/chartStyle" xmlns:a="http://schemas.openxmlformats.org/drawingml/2006/main" id="209">
  <cs:axisTitle>
    <cs:lnRef idx="0"/>
    <cs:fillRef idx="0"/>
    <cs:effectRef idx="0"/>
    <cs:fontRef idx="minor">
      <a:schemeClr val="lt1">
        <a:lumMod val="85000"/>
      </a:schemeClr>
    </cs:fontRef>
    <cs:defRPr sz="1197" b="1" kern="1200" cap="all"/>
  </cs:axisTitle>
  <cs:categoryAxis>
    <cs:lnRef idx="0"/>
    <cs:fillRef idx="0"/>
    <cs:effectRef idx="0"/>
    <cs:fontRef idx="minor">
      <a:schemeClr val="lt1">
        <a:lumMod val="85000"/>
      </a:schemeClr>
    </cs:fontRef>
    <cs:spPr>
      <a:ln w="12700" cap="flat" cmpd="sng" algn="ctr">
        <a:solidFill>
          <a:schemeClr val="lt1">
            <a:lumMod val="95000"/>
            <a:alpha val="54000"/>
          </a:schemeClr>
        </a:solidFill>
        <a:round/>
      </a:ln>
    </cs:spPr>
    <cs:defRPr sz="1197" kern="1200"/>
  </cs:categoryAxis>
  <cs:chartArea>
    <cs:lnRef idx="0"/>
    <cs:fillRef idx="0"/>
    <cs:effectRef idx="0"/>
    <cs:fontRef idx="minor">
      <a:schemeClr val="dk1"/>
    </cs:fontRef>
    <cs:spPr>
      <a:gradFill flip="none" rotWithShape="1">
        <a:gsLst>
          <a:gs pos="0">
            <a:schemeClr val="dk1">
              <a:lumMod val="65000"/>
              <a:lumOff val="35000"/>
            </a:schemeClr>
          </a:gs>
          <a:gs pos="100000">
            <a:schemeClr val="dk1">
              <a:lumMod val="85000"/>
              <a:lumOff val="15000"/>
            </a:schemeClr>
          </a:gs>
        </a:gsLst>
        <a:path path="circle">
          <a:fillToRect l="50000" t="50000" r="50000" b="50000"/>
        </a:path>
        <a:tileRect/>
      </a:gradFill>
    </cs:spPr>
    <cs:defRPr sz="1330" kern="1200"/>
  </cs:chartArea>
  <cs:dataLabel>
    <cs:lnRef idx="0"/>
    <cs:fillRef idx="0"/>
    <cs:effectRef idx="0"/>
    <cs:fontRef idx="minor">
      <a:schemeClr val="lt1">
        <a:lumMod val="8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3">
      <cs:styleClr val="auto"/>
    </cs:fillRef>
    <cs:effectRef idx="3"/>
    <cs:fontRef idx="minor">
      <a:schemeClr val="lt1"/>
    </cs:fontRef>
  </cs:dataPoint>
  <cs:dataPoint3D>
    <cs:lnRef idx="0"/>
    <cs:fillRef idx="3">
      <cs:styleClr val="auto"/>
    </cs:fillRef>
    <cs:effectRef idx="3"/>
    <cs:fontRef idx="minor">
      <a:schemeClr val="lt1"/>
    </cs:fontRef>
  </cs:dataPoint3D>
  <cs:dataPointLine>
    <cs:lnRef idx="0">
      <cs:styleClr val="auto"/>
    </cs:lnRef>
    <cs:fillRef idx="3"/>
    <cs:effectRef idx="3"/>
    <cs:fontRef idx="minor">
      <a:schemeClr val="lt1"/>
    </cs:fontRef>
    <cs:spPr>
      <a:ln w="3492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3">
      <cs:styleClr val="auto"/>
    </cs:fillRef>
    <cs:effectRef idx="3"/>
    <cs:fontRef idx="minor">
      <a:schemeClr val="lt1"/>
    </cs:fontRef>
    <cs:spPr>
      <a:ln w="9525">
        <a:solidFill>
          <a:schemeClr val="phClr"/>
        </a:solidFill>
        <a:round/>
      </a:ln>
    </cs:spPr>
  </cs:dataPointMarker>
  <cs:dataPointMarkerLayout symbol="circle" size="6"/>
  <cs:dataPointWireframe>
    <cs:lnRef idx="0">
      <cs:styleClr val="auto"/>
    </cs:lnRef>
    <cs:fillRef idx="3"/>
    <cs:effectRef idx="3"/>
    <cs:fontRef idx="minor">
      <a:schemeClr val="lt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lt1">
        <a:lumMod val="85000"/>
      </a:schemeClr>
    </cs:fontRef>
    <cs:spPr>
      <a:ln w="9525">
        <a:solidFill>
          <a:schemeClr val="lt1">
            <a:lumMod val="95000"/>
            <a:alpha val="54000"/>
          </a:schemeClr>
        </a:solidFill>
      </a:ln>
    </cs:spPr>
    <cs:defRPr sz="1197" kern="1200"/>
  </cs:dataTable>
  <cs:downBar>
    <cs:lnRef idx="0"/>
    <cs:fillRef idx="0"/>
    <cs:effectRef idx="0"/>
    <cs:fontRef idx="minor">
      <a:schemeClr val="lt1"/>
    </cs:fontRef>
    <cs:spPr>
      <a:solidFill>
        <a:schemeClr val="dk1">
          <a:lumMod val="75000"/>
          <a:lumOff val="25000"/>
        </a:schemeClr>
      </a:solidFill>
      <a:ln w="9525">
        <a:solidFill>
          <a:schemeClr val="lt1">
            <a:lumMod val="95000"/>
            <a:alpha val="54000"/>
          </a:schemeClr>
        </a:solidFill>
      </a:ln>
    </cs:spPr>
  </cs:downBar>
  <cs:dropLine>
    <cs:lnRef idx="0"/>
    <cs:fillRef idx="0"/>
    <cs:effectRef idx="0"/>
    <cs:fontRef idx="minor">
      <a:schemeClr val="lt1"/>
    </cs:fontRef>
    <cs:spPr>
      <a:ln w="9525">
        <a:solidFill>
          <a:schemeClr val="lt1">
            <a:lumMod val="95000"/>
            <a:alpha val="54000"/>
          </a:schemeClr>
        </a:solidFill>
        <a:prstDash val="dash"/>
      </a:ln>
    </cs:spPr>
  </cs:dropLine>
  <cs:errorBar>
    <cs:lnRef idx="0"/>
    <cs:fillRef idx="0"/>
    <cs:effectRef idx="0"/>
    <cs:fontRef idx="minor">
      <a:schemeClr val="lt1"/>
    </cs:fontRef>
    <cs:spPr>
      <a:ln w="9525" cap="flat" cmpd="sng" algn="ctr">
        <a:solidFill>
          <a:schemeClr val="lt1">
            <a:lumMod val="95000"/>
          </a:schemeClr>
        </a:solidFill>
        <a:round/>
      </a:ln>
    </cs:spPr>
  </cs:errorBar>
  <cs:floor>
    <cs:lnRef idx="0"/>
    <cs:fillRef idx="0"/>
    <cs:effectRef idx="0"/>
    <cs:fontRef idx="minor">
      <a:schemeClr val="lt1"/>
    </cs:fontRef>
  </cs:floor>
  <cs:gridlineMajor>
    <cs:lnRef idx="0"/>
    <cs:fillRef idx="0"/>
    <cs:effectRef idx="0"/>
    <cs:fontRef idx="minor">
      <a:schemeClr val="lt1"/>
    </cs:fontRef>
    <cs:spPr>
      <a:ln w="9525" cap="flat" cmpd="sng" algn="ctr">
        <a:solidFill>
          <a:schemeClr val="lt1">
            <a:lumMod val="95000"/>
            <a:alpha val="10000"/>
          </a:schemeClr>
        </a:solidFill>
        <a:round/>
      </a:ln>
    </cs:spPr>
  </cs:gridlineMajor>
  <cs:gridlineMinor>
    <cs:lnRef idx="0"/>
    <cs:fillRef idx="0"/>
    <cs:effectRef idx="0"/>
    <cs:fontRef idx="minor">
      <a:schemeClr val="lt1"/>
    </cs:fontRef>
    <cs:spPr>
      <a:ln>
        <a:solidFill>
          <a:schemeClr val="lt1">
            <a:lumMod val="95000"/>
            <a:alpha val="5000"/>
          </a:schemeClr>
        </a:solidFill>
      </a:ln>
    </cs:spPr>
  </cs:gridlineMinor>
  <cs:hiLoLine>
    <cs:lnRef idx="0"/>
    <cs:fillRef idx="0"/>
    <cs:effectRef idx="0"/>
    <cs:fontRef idx="minor">
      <a:schemeClr val="lt1"/>
    </cs:fontRef>
    <cs:spPr>
      <a:ln w="9525">
        <a:solidFill>
          <a:schemeClr val="lt1">
            <a:lumMod val="95000"/>
            <a:alpha val="54000"/>
          </a:schemeClr>
        </a:solidFill>
        <a:prstDash val="dash"/>
      </a:ln>
    </cs:spPr>
  </cs:hiLoLine>
  <cs:leaderLine>
    <cs:lnRef idx="0"/>
    <cs:fillRef idx="0"/>
    <cs:effectRef idx="0"/>
    <cs:fontRef idx="minor">
      <a:schemeClr val="lt1"/>
    </cs:fontRef>
    <cs:spPr>
      <a:ln w="9525">
        <a:solidFill>
          <a:schemeClr val="lt1">
            <a:lumMod val="95000"/>
            <a:alpha val="54000"/>
          </a:schemeClr>
        </a:solidFill>
      </a:ln>
    </cs:spPr>
  </cs:leaderLine>
  <cs:legend>
    <cs:lnRef idx="0"/>
    <cs:fillRef idx="0"/>
    <cs:effectRef idx="0"/>
    <cs:fontRef idx="minor">
      <a:schemeClr val="lt1">
        <a:lumMod val="85000"/>
      </a:schemeClr>
    </cs:fontRef>
    <cs:defRPr sz="1197" kern="1200"/>
  </cs:legend>
  <cs:plotArea>
    <cs:lnRef idx="0"/>
    <cs:fillRef idx="0"/>
    <cs:effectRef idx="0"/>
    <cs:fontRef idx="minor">
      <a:schemeClr val="lt1"/>
    </cs:fontRef>
  </cs:plotArea>
  <cs:plotArea3D>
    <cs:lnRef idx="0"/>
    <cs:fillRef idx="0"/>
    <cs:effectRef idx="0"/>
    <cs:fontRef idx="minor">
      <a:schemeClr val="lt1"/>
    </cs:fontRef>
  </cs:plotArea3D>
  <cs:seriesAxis>
    <cs:lnRef idx="0"/>
    <cs:fillRef idx="0"/>
    <cs:effectRef idx="0"/>
    <cs:fontRef idx="minor">
      <a:schemeClr val="lt1">
        <a:lumMod val="85000"/>
      </a:schemeClr>
    </cs:fontRef>
    <cs:spPr>
      <a:ln w="12700" cap="flat" cmpd="sng" algn="ctr">
        <a:solidFill>
          <a:schemeClr val="lt1">
            <a:lumMod val="95000"/>
            <a:alpha val="54000"/>
          </a:schemeClr>
        </a:solidFill>
        <a:round/>
      </a:ln>
    </cs:spPr>
    <cs:defRPr sz="1197" kern="1200"/>
  </cs:seriesAxis>
  <cs:seriesLine>
    <cs:lnRef idx="0"/>
    <cs:fillRef idx="0"/>
    <cs:effectRef idx="0"/>
    <cs:fontRef idx="minor">
      <a:schemeClr val="lt1"/>
    </cs:fontRef>
    <cs:spPr>
      <a:ln w="9525" cap="flat" cmpd="sng" algn="ctr">
        <a:solidFill>
          <a:schemeClr val="lt1">
            <a:lumMod val="95000"/>
            <a:alpha val="54000"/>
          </a:schemeClr>
        </a:solidFill>
        <a:round/>
      </a:ln>
    </cs:spPr>
  </cs:seriesLine>
  <cs:title>
    <cs:lnRef idx="0"/>
    <cs:fillRef idx="0"/>
    <cs:effectRef idx="0"/>
    <cs:fontRef idx="minor">
      <a:schemeClr val="lt1">
        <a:lumMod val="95000"/>
      </a:schemeClr>
    </cs:fontRef>
    <cs:defRPr sz="2128" b="1" kern="1200" spc="100" baseline="0">
      <a:effectLst>
        <a:outerShdw blurRad="50800" dist="38100" dir="5400000" algn="t" rotWithShape="0">
          <a:prstClr val="black">
            <a:alpha val="40000"/>
          </a:prstClr>
        </a:outerShdw>
      </a:effectLst>
    </cs:defRPr>
  </cs:title>
  <cs:trendline>
    <cs:lnRef idx="0">
      <cs:styleClr val="auto"/>
    </cs:lnRef>
    <cs:fillRef idx="0"/>
    <cs:effectRef idx="0"/>
    <cs:fontRef idx="minor">
      <a:schemeClr val="lt1"/>
    </cs:fontRef>
    <cs:spPr>
      <a:ln w="19050" cap="rnd">
        <a:solidFill>
          <a:schemeClr val="phClr"/>
        </a:solidFill>
      </a:ln>
    </cs:spPr>
  </cs:trendline>
  <cs:trendlineLabel>
    <cs:lnRef idx="0"/>
    <cs:fillRef idx="0"/>
    <cs:effectRef idx="0"/>
    <cs:fontRef idx="minor">
      <a:schemeClr val="lt1">
        <a:lumMod val="85000"/>
      </a:schemeClr>
    </cs:fontRef>
    <cs:defRPr sz="1197" kern="1200"/>
  </cs:trendlineLabel>
  <cs:upBar>
    <cs:lnRef idx="0"/>
    <cs:fillRef idx="0"/>
    <cs:effectRef idx="0"/>
    <cs:fontRef idx="minor">
      <a:schemeClr val="lt1"/>
    </cs:fontRef>
    <cs:spPr>
      <a:solidFill>
        <a:schemeClr val="lt1"/>
      </a:solidFill>
      <a:ln w="9525">
        <a:solidFill>
          <a:schemeClr val="lt1">
            <a:lumMod val="95000"/>
            <a:alpha val="54000"/>
          </a:schemeClr>
        </a:solidFill>
      </a:ln>
    </cs:spPr>
  </cs:upBar>
  <cs:valueAxis>
    <cs:lnRef idx="0"/>
    <cs:fillRef idx="0"/>
    <cs:effectRef idx="0"/>
    <cs:fontRef idx="minor">
      <a:schemeClr val="lt1">
        <a:lumMod val="85000"/>
      </a:schemeClr>
    </cs:fontRef>
    <cs:defRPr sz="1197" kern="1200"/>
  </cs:valueAxis>
  <cs:wall>
    <cs:lnRef idx="0"/>
    <cs:fillRef idx="0"/>
    <cs:effectRef idx="0"/>
    <cs:fontRef idx="minor">
      <a:schemeClr val="lt1"/>
    </cs:fontRef>
  </cs:wall>
</cs:chartStyle>
</file>

<file path=ppt/charts/style5.xml><?xml version="1.0" encoding="utf-8"?>
<cs:chartStyle xmlns:cs="http://schemas.microsoft.com/office/drawing/2012/chartStyle" xmlns:a="http://schemas.openxmlformats.org/drawingml/2006/main" id="328">
  <cs:axisTitle>
    <cs:lnRef idx="0"/>
    <cs:fillRef idx="0"/>
    <cs:effectRef idx="0"/>
    <cs:fontRef idx="minor">
      <a:schemeClr val="lt1">
        <a:lumMod val="85000"/>
      </a:schemeClr>
    </cs:fontRef>
    <cs:defRPr sz="1197" b="1" kern="1200" cap="all"/>
  </cs:axisTitle>
  <cs:categoryAxis>
    <cs:lnRef idx="0"/>
    <cs:fillRef idx="0"/>
    <cs:effectRef idx="0"/>
    <cs:fontRef idx="minor">
      <a:schemeClr val="lt1">
        <a:lumMod val="85000"/>
      </a:schemeClr>
    </cs:fontRef>
    <cs:spPr>
      <a:ln w="12700" cap="flat" cmpd="sng" algn="ctr">
        <a:solidFill>
          <a:schemeClr val="lt1">
            <a:lumMod val="95000"/>
            <a:alpha val="54000"/>
          </a:schemeClr>
        </a:solidFill>
        <a:round/>
      </a:ln>
    </cs:spPr>
    <cs:defRPr sz="1197" kern="1200"/>
  </cs:categoryAxis>
  <cs:chartArea>
    <cs:lnRef idx="0"/>
    <cs:fillRef idx="0"/>
    <cs:effectRef idx="0"/>
    <cs:fontRef idx="minor">
      <a:schemeClr val="dk1"/>
    </cs:fontRef>
    <cs:spPr>
      <a:gradFill flip="none" rotWithShape="1">
        <a:gsLst>
          <a:gs pos="0">
            <a:schemeClr val="dk1">
              <a:lumMod val="65000"/>
              <a:lumOff val="35000"/>
            </a:schemeClr>
          </a:gs>
          <a:gs pos="100000">
            <a:schemeClr val="dk1">
              <a:lumMod val="85000"/>
              <a:lumOff val="15000"/>
            </a:schemeClr>
          </a:gs>
        </a:gsLst>
        <a:path path="circle">
          <a:fillToRect l="50000" t="50000" r="50000" b="50000"/>
        </a:path>
        <a:tileRect/>
      </a:gradFill>
    </cs:spPr>
    <cs:defRPr sz="1330" kern="1200"/>
  </cs:chartArea>
  <cs:dataLabel>
    <cs:lnRef idx="0"/>
    <cs:fillRef idx="0"/>
    <cs:effectRef idx="0"/>
    <cs:fontRef idx="minor">
      <a:schemeClr val="lt1">
        <a:lumMod val="8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3">
      <cs:styleClr val="auto"/>
    </cs:fillRef>
    <cs:effectRef idx="3"/>
    <cs:fontRef idx="minor">
      <a:schemeClr val="tx1"/>
    </cs:fontRef>
  </cs:dataPoint>
  <cs:dataPoint3D>
    <cs:lnRef idx="0"/>
    <cs:fillRef idx="3">
      <cs:styleClr val="auto"/>
    </cs:fillRef>
    <cs:effectRef idx="3"/>
    <cs:fontRef idx="minor">
      <a:schemeClr val="tx1"/>
    </cs:fontRef>
  </cs:dataPoint3D>
  <cs:dataPointLine>
    <cs:lnRef idx="0">
      <cs:styleClr val="auto"/>
    </cs:lnRef>
    <cs:fillRef idx="3"/>
    <cs:effectRef idx="3"/>
    <cs:fontRef idx="minor">
      <a:schemeClr val="tx1"/>
    </cs:fontRef>
    <cs:spPr>
      <a:ln w="3492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3">
      <cs:styleClr val="auto"/>
    </cs:fillRef>
    <cs:effectRef idx="3"/>
    <cs:fontRef idx="minor">
      <a:schemeClr val="tx1"/>
    </cs:fontRef>
    <cs:spPr>
      <a:ln w="9525">
        <a:solidFill>
          <a:schemeClr val="phClr"/>
        </a:solidFill>
        <a:round/>
      </a:ln>
    </cs:spPr>
  </cs:dataPointMarker>
  <cs:dataPointMarkerLayout symbol="circle" size="6"/>
  <cs:dataPointWireframe>
    <cs:lnRef idx="0">
      <cs:styleClr val="auto"/>
    </cs:lnRef>
    <cs:fillRef idx="3"/>
    <cs:effectRef idx="3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lt1">
        <a:lumMod val="85000"/>
      </a:schemeClr>
    </cs:fontRef>
    <cs:spPr>
      <a:ln w="9525">
        <a:solidFill>
          <a:schemeClr val="lt1">
            <a:lumMod val="95000"/>
            <a:alpha val="54000"/>
          </a:schemeClr>
        </a:solidFill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gradFill>
        <a:gsLst>
          <a:gs pos="100000">
            <a:schemeClr val="dk1">
              <a:lumMod val="95000"/>
              <a:lumOff val="5000"/>
            </a:schemeClr>
          </a:gs>
          <a:gs pos="0">
            <a:schemeClr val="dk1">
              <a:lumMod val="75000"/>
              <a:lumOff val="25000"/>
            </a:schemeClr>
          </a:gs>
        </a:gsLst>
        <a:path path="circle">
          <a:fillToRect l="50000" t="50000" r="50000" b="50000"/>
        </a:path>
      </a:gradFill>
      <a:ln w="9525">
        <a:solidFill>
          <a:schemeClr val="dk1">
            <a:lumMod val="75000"/>
            <a:lumOff val="2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lt1"/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lt1">
            <a:lumMod val="9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lt1">
            <a:lumMod val="95000"/>
            <a:alpha val="10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>
        <a:solidFill>
          <a:schemeClr val="lt1">
            <a:lumMod val="95000"/>
            <a:alpha val="5000"/>
          </a:schemeClr>
        </a:solidFill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lt1"/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>
        <a:solidFill>
          <a:schemeClr val="lt1">
            <a:lumMod val="95000"/>
            <a:alpha val="54000"/>
          </a:schemeClr>
        </a:solidFill>
      </a:ln>
    </cs:spPr>
  </cs:leaderLine>
  <cs:legend>
    <cs:lnRef idx="0"/>
    <cs:fillRef idx="0"/>
    <cs:effectRef idx="0"/>
    <cs:fontRef idx="minor">
      <a:schemeClr val="lt1">
        <a:lumMod val="85000"/>
      </a:schemeClr>
    </cs:fontRef>
    <cs:defRPr sz="1197" kern="1200"/>
  </cs:legend>
  <cs:plotArea>
    <cs:lnRef idx="0"/>
    <cs:fillRef idx="0"/>
    <cs:effectRef idx="0"/>
    <cs:fontRef idx="minor">
      <a:schemeClr val="tx1"/>
    </cs:fontRef>
  </cs:plotArea>
  <cs:plotArea3D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lt1">
        <a:lumMod val="85000"/>
      </a:schemeClr>
    </cs:fontRef>
    <cs:spPr>
      <a:ln w="12700" cap="flat" cmpd="sng" algn="ctr">
        <a:solidFill>
          <a:schemeClr val="lt1">
            <a:lumMod val="95000"/>
            <a:alpha val="54000"/>
          </a:schemeClr>
        </a:solidFill>
        <a:round/>
      </a:ln>
    </cs:spPr>
    <cs:defRPr sz="1197" kern="1200"/>
  </cs:seriesAxis>
  <cs:seriesLine>
    <cs:lnRef idx="0"/>
    <cs:fillRef idx="0"/>
    <cs:effectRef idx="0"/>
    <cs:fontRef idx="minor">
      <a:schemeClr val="lt1"/>
    </cs:fontRef>
    <cs:spPr>
      <a:ln w="9525" cap="flat" cmpd="sng" algn="ctr">
        <a:solidFill>
          <a:schemeClr val="lt1">
            <a:lumMod val="95000"/>
            <a:alpha val="54000"/>
          </a:schemeClr>
        </a:solidFill>
        <a:round/>
      </a:ln>
    </cs:spPr>
  </cs:seriesLine>
  <cs:title>
    <cs:lnRef idx="0"/>
    <cs:fillRef idx="0"/>
    <cs:effectRef idx="0"/>
    <cs:fontRef idx="minor">
      <a:schemeClr val="lt1">
        <a:lumMod val="95000"/>
      </a:schemeClr>
    </cs:fontRef>
    <cs:defRPr sz="2128" b="1" kern="1200" spc="100" baseline="0">
      <a:effectLst>
        <a:outerShdw blurRad="50800" dist="38100" dir="5400000" algn="t" rotWithShape="0">
          <a:prstClr val="black">
            <a:alpha val="40000"/>
          </a:prstClr>
        </a:outerShdw>
      </a:effectLst>
    </cs:defRPr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</a:ln>
    </cs:spPr>
  </cs:trendline>
  <cs:trendlineLabel>
    <cs:lnRef idx="0"/>
    <cs:fillRef idx="0"/>
    <cs:effectRef idx="0"/>
    <cs:fontRef idx="minor">
      <a:schemeClr val="lt1">
        <a:lumMod val="8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gradFill>
        <a:gsLst>
          <a:gs pos="100000">
            <a:schemeClr val="lt1">
              <a:lumMod val="85000"/>
            </a:schemeClr>
          </a:gs>
          <a:gs pos="0">
            <a:schemeClr val="lt1"/>
          </a:gs>
        </a:gsLst>
        <a:path path="circle">
          <a:fillToRect l="50000" t="50000" r="50000" b="50000"/>
        </a:path>
      </a:gradFill>
      <a:ln w="9525" cap="flat" cmpd="sng" algn="ctr">
        <a:solidFill>
          <a:schemeClr val="lt1"/>
        </a:solidFill>
        <a:round/>
      </a:ln>
    </cs:spPr>
  </cs:upBar>
  <cs:valueAxis>
    <cs:lnRef idx="0"/>
    <cs:fillRef idx="0"/>
    <cs:effectRef idx="0"/>
    <cs:fontRef idx="minor">
      <a:schemeClr val="lt1">
        <a:lumMod val="85000"/>
      </a:schemeClr>
    </cs:fontRef>
    <cs:defRPr sz="1197" kern="1200"/>
  </cs:valueAxis>
  <cs:wall>
    <cs:lnRef idx="0"/>
    <cs:fillRef idx="0"/>
    <cs:effectRef idx="0"/>
    <cs:fontRef idx="minor">
      <a:schemeClr val="tx1"/>
    </cs:fontRef>
  </cs:wall>
</cs:chartStyl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95370BB-340C-4B67-8F3C-1836E367C3AB}" type="datetimeFigureOut">
              <a:rPr lang="en-US" smtClean="0"/>
              <a:t>7/4/2026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4EF5BDF-FAF7-40FD-8B4D-FF17463F50D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2340193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4EF5BDF-FAF7-40FD-8B4D-FF17463F50D0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754335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DF9204-3F29-4C3A-BA41-3063400202C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4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03393CD-7262-4AC7-80E6-52FE6F3F39B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000">
                <a:latin typeface="+mn-lt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7D430AE-0210-4E82-AD7B-41B112DE7F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>
                    <a:alpha val="60000"/>
                  </a:schemeClr>
                </a:solidFill>
                <a:latin typeface="+mn-lt"/>
              </a:defRPr>
            </a:lvl1pPr>
          </a:lstStyle>
          <a:p>
            <a:fld id="{11A6662E-FAF4-44BC-88B5-85A7CBFB6D30}" type="datetime1">
              <a:rPr lang="en-US" smtClean="0"/>
              <a:pPr/>
              <a:t>7/4/2026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F221974-7DEC-459D-9642-CB5B59C827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>
                    <a:alpha val="60000"/>
                  </a:schemeClr>
                </a:solidFill>
                <a:latin typeface="+mn-lt"/>
              </a:defRPr>
            </a:lvl1pPr>
          </a:lstStyle>
          <a:p>
            <a:endParaRPr lang="en-US">
              <a:solidFill>
                <a:schemeClr val="tx1">
                  <a:alpha val="60000"/>
                </a:schemeClr>
              </a:solidFill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0731837-C94E-4B5B-BCF0-110C69EDB4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>
                    <a:alpha val="60000"/>
                  </a:schemeClr>
                </a:solidFill>
                <a:latin typeface="+mn-lt"/>
              </a:defRPr>
            </a:lvl1pPr>
          </a:lstStyle>
          <a:p>
            <a:fld id="{73B850FF-6169-4056-8077-06FFA93A5366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0608140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4CC1FC-ADE8-488C-A1DA-2FD569FD4D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8694" y="365760"/>
            <a:ext cx="10895106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7F02842-38C3-46D6-8527-0F6FE623C51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E864CF5-F681-40C2-88CC-E02206C9CE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55F08A-1E71-4B2B-BB49-E743F2903911}" type="datetime1">
              <a:rPr lang="en-US" smtClean="0"/>
              <a:t>7/4/2026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2C04753-4FE4-4A6F-99BB-CFFC92E0CD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0A569D1-DB13-4BD9-8BA9-0DEAD98F89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50FF-6169-4056-8077-06FFA93A53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219505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020B05-7BF6-4073-9106-FA19E97273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4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E8EE8D7-6B58-4A3F-9DD5-E563D5192A6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2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102990E-9F0A-446A-B5B8-459CA8D98D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417D9E-721A-44BB-8863-9873FE64DA75}" type="datetime1">
              <a:rPr lang="en-US" smtClean="0"/>
              <a:t>7/4/2026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9E68EAA-4377-45FF-9D7C-9E77BC9F27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207FA71-74C3-44B8-A0AC-E18A1E76B4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50FF-6169-4056-8077-06FFA93A53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8901905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B71F12-2D88-4F76-AF46-BD5156C127A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8694" y="365760"/>
            <a:ext cx="10895106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6E1AA46-E3EB-4704-B019-F90F1E6177A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58695" y="1825625"/>
            <a:ext cx="5561106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C17480F-A530-4D05-9A22-E573FB4BA62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199" y="1825625"/>
            <a:ext cx="5561105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5B56FDA-C47A-4F4A-A364-BA60A25AB9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31DA2F-80B8-49CF-99FB-5ABCA53A607A}" type="datetime1">
              <a:rPr lang="en-US" smtClean="0"/>
              <a:t>7/4/2026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326D8DD-6D84-44D4-8A1B-57615B3ED8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4C8FE31-B577-4017-8AFE-A8BA09596E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50FF-6169-4056-8077-06FFA93A53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4298262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EC28C9-B8CC-413F-9FFA-626680E4A8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8694" y="365125"/>
            <a:ext cx="11274612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B53FE72-9D42-45F5-A37F-B12130388AD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65256" y="1752600"/>
            <a:ext cx="5532319" cy="823912"/>
          </a:xfrm>
        </p:spPr>
        <p:txBody>
          <a:bodyPr anchor="b"/>
          <a:lstStyle>
            <a:lvl1pPr marL="0" indent="0">
              <a:buNone/>
              <a:defRPr sz="2400" b="0" i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EE3A31D-9B5F-4DE3-B18D-F7F77782EB4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65256" y="2666999"/>
            <a:ext cx="5532319" cy="352266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0BE1D2D-822C-466C-A7B9-1A2D97366A4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752600"/>
            <a:ext cx="5561106" cy="823912"/>
          </a:xfrm>
        </p:spPr>
        <p:txBody>
          <a:bodyPr anchor="b"/>
          <a:lstStyle>
            <a:lvl1pPr marL="0" indent="0">
              <a:buNone/>
              <a:defRPr sz="2400" b="0" i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6F13B2C-44CA-49C4-BC84-02AF1638F38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666999"/>
            <a:ext cx="5561106" cy="352266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793CB55-E9C1-4CE6-9B61-81B71475B9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852172-E6C9-4B6C-929A-A9DE3837BBF1}" type="datetime1">
              <a:rPr lang="en-US" smtClean="0"/>
              <a:t>7/4/2026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DF22318-747B-4EC9-862C-D9FD488CCC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CFBDDDF-16BD-438D-937D-0E3E30E74E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50FF-6169-4056-8077-06FFA93A53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0336830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792D5F-0BD4-4517-9233-E08AF405B6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8694" y="365760"/>
            <a:ext cx="11274612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83523B8-51E3-48B8-BFD8-CE950619804E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58693" y="6416675"/>
            <a:ext cx="2921715" cy="365125"/>
          </a:xfrm>
        </p:spPr>
        <p:txBody>
          <a:bodyPr/>
          <a:lstStyle/>
          <a:p>
            <a:fld id="{3AB41CFF-90C9-47B3-9DA1-F2BF8D839F7E}" type="datetime1">
              <a:rPr lang="en-US" smtClean="0"/>
              <a:t>7/4/2026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D739B90-5D50-4424-B51D-53C3916218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16F9286-3A00-4D3C-A3F0-50AC9045C4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50FF-6169-4056-8077-06FFA93A53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729302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2933BE2-665A-42DA-A3B7-835F81A3F4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6048FA-06AB-4884-A69B-986B96E68A24}" type="datetime1">
              <a:rPr lang="en-US" smtClean="0"/>
              <a:t>7/4/2026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34DBCBD-AD42-432D-ABA9-20D616AF3E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E140251-3596-4673-B24B-59A6F9ED8F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50FF-6169-4056-8077-06FFA93A53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6221969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6A81A1-6D8E-4DD6-8E49-DABDE6D107E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693F18F-F78D-4A31-A6BC-6552105BCFD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582C2F4-BDF4-4A4F-AA3D-52692932C24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113850F-5C87-4F08-9658-EAF049B60E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DB7ABA-0172-4F9C-889D-567164F66BCD}" type="datetime1">
              <a:rPr lang="en-US" smtClean="0"/>
              <a:t>7/4/2026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10BCE9A-A746-4439-B5D3-966FBC8E5F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41D3B51-AA2E-4AA1-8062-A0D476D80C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50FF-6169-4056-8077-06FFA93A53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3334971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D02CF7-F453-4B3E-9510-D747979878A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3E2A1B9-8A2A-4B49-8B79-76D3EEB36B4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D9FEA03-0EC4-4085-AE63-4AA492D61A9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605AD5B-0DEA-4C6F-94D2-FAA99F2E5D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AC6A5B-8AE7-4A41-B5A7-9ADC6686DC18}" type="datetime1">
              <a:rPr lang="en-US" smtClean="0"/>
              <a:t>7/4/2026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0DC6744-7CBA-4A1D-8F87-10699F9812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EAD9048-35FF-4BE9-8157-BE4BAA1C72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50FF-6169-4056-8077-06FFA93A53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7841424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7ABDD2-E186-4F25-8FDE-D1E875E9C3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318CC5B-A7E0-48B1-8329-6533AC76E7B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3905B1B-77FE-4BFC-BF87-87DA989F008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559632-1575-4E14-B53B-3DC3D5ED3947}" type="datetime1">
              <a:rPr lang="en-US" smtClean="0"/>
              <a:t>7/4/2026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118531E-1B90-4631-BD37-4BB1DBFABF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38A55E8-88DC-4280-8E04-FF50FF8EDB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50FF-6169-4056-8077-06FFA93A53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7409510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6960633D-90E4-4F5A-9EBF-DDEC2B0B471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DDD3065-FA3D-42C8-BFDA-967C87F4F28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4DC126F-38E2-4425-861F-98ED432284B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4A6868-2568-4CC9-B302-F37117B01A6E}" type="datetime1">
              <a:rPr lang="en-US" smtClean="0"/>
              <a:t>7/4/2026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A9645D8-F22A-4354-A8B3-96E8A2D232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59E2295-A616-4D57-8800-7B7E213A8C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50FF-6169-4056-8077-06FFA93A53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960397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>
            <a:extLst>
              <a:ext uri="{FF2B5EF4-FFF2-40B4-BE49-F238E27FC236}">
                <a16:creationId xmlns:a16="http://schemas.microsoft.com/office/drawing/2014/main" id="{0BABF38A-8A0D-492E-BD20-6CF4D46B50B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12192000" cy="6858004"/>
          </a:xfrm>
          <a:prstGeom prst="rect">
            <a:avLst/>
          </a:prstGeom>
          <a:solidFill>
            <a:schemeClr val="bg2">
              <a:lumMod val="90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>
                  <a:lumMod val="65000"/>
                  <a:lumOff val="35000"/>
                </a:schemeClr>
              </a:solidFill>
              <a:latin typeface="AvenirNext LT Pro Medium" panose="020B0504020202020204" pitchFamily="34" charset="0"/>
            </a:endParaRPr>
          </a:p>
        </p:txBody>
      </p:sp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9984D45-0ED3-4D03-8E44-5E355C9134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8694" y="425450"/>
            <a:ext cx="11274612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F687D6E-D1E9-489C-9AA9-3575C39BAA0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58694" y="1949450"/>
            <a:ext cx="11274612" cy="41957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6364E9C-08EE-4B1B-B3FC-D6D997F4EA3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458694" y="6416675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alpha val="60000"/>
                  </a:schemeClr>
                </a:solidFill>
                <a:latin typeface="+mn-lt"/>
              </a:defRPr>
            </a:lvl1pPr>
          </a:lstStyle>
          <a:p>
            <a:fld id="{57E0CF6C-748E-4B7A-BC8B-3011EF78ED13}" type="datetime1">
              <a:rPr lang="en-US" smtClean="0"/>
              <a:pPr/>
              <a:t>7/4/2026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AB0A1F1-38FE-4C27-81E6-A43A54793FC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416675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alpha val="60000"/>
                  </a:schemeClr>
                </a:solidFill>
                <a:latin typeface="+mn-lt"/>
              </a:defRPr>
            </a:lvl1pPr>
          </a:lstStyle>
          <a:p>
            <a:endParaRPr lang="en-US" dirty="0">
              <a:solidFill>
                <a:schemeClr val="tx1">
                  <a:alpha val="60000"/>
                </a:schemeClr>
              </a:solidFill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E26B39A-FFD8-42EF-ADC7-7DB3B302F8B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990106" y="6416675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alpha val="60000"/>
                  </a:schemeClr>
                </a:solidFill>
                <a:latin typeface="+mn-lt"/>
              </a:defRPr>
            </a:lvl1pPr>
          </a:lstStyle>
          <a:p>
            <a:fld id="{73B850FF-6169-4056-8077-06FFA93A5366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14" name="Picture 13" descr="A picture containing sitting&#10;&#10;Description automatically generated">
            <a:extLst>
              <a:ext uri="{FF2B5EF4-FFF2-40B4-BE49-F238E27FC236}">
                <a16:creationId xmlns:a16="http://schemas.microsoft.com/office/drawing/2014/main" id="{BC526B7A-4801-4FD1-95C8-03AF22629E87}"/>
              </a:ext>
            </a:extLst>
          </p:cNvPr>
          <p:cNvPicPr>
            <a:picLocks noChangeAspect="1"/>
          </p:cNvPicPr>
          <p:nvPr/>
        </p:nvPicPr>
        <p:blipFill>
          <a:blip r:embed="rId13">
            <a:alphaModFix amt="1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34400" y="0"/>
            <a:ext cx="3654612" cy="45753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2765227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06" r:id="rId1"/>
    <p:sldLayoutId id="2147483807" r:id="rId2"/>
    <p:sldLayoutId id="2147483808" r:id="rId3"/>
    <p:sldLayoutId id="2147483809" r:id="rId4"/>
    <p:sldLayoutId id="2147483810" r:id="rId5"/>
    <p:sldLayoutId id="2147483811" r:id="rId6"/>
    <p:sldLayoutId id="2147483812" r:id="rId7"/>
    <p:sldLayoutId id="2147483803" r:id="rId8"/>
    <p:sldLayoutId id="2147483804" r:id="rId9"/>
    <p:sldLayoutId id="2147483805" r:id="rId10"/>
    <p:sldLayoutId id="2147483813" r:id="rId11"/>
  </p:sldLayoutIdLst>
  <p:hf sldNum="0" hdr="0" ftr="0" dt="0"/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4400" b="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10000"/>
        </a:lnSpc>
        <a:spcBef>
          <a:spcPts val="1000"/>
        </a:spcBef>
        <a:buClr>
          <a:schemeClr val="accent1"/>
        </a:buClr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10000"/>
        </a:lnSpc>
        <a:spcBef>
          <a:spcPts val="500"/>
        </a:spcBef>
        <a:buClr>
          <a:schemeClr val="accent1"/>
        </a:buClr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10000"/>
        </a:lnSpc>
        <a:spcBef>
          <a:spcPts val="500"/>
        </a:spcBef>
        <a:buClr>
          <a:schemeClr val="accent1"/>
        </a:buClr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10000"/>
        </a:lnSpc>
        <a:spcBef>
          <a:spcPts val="500"/>
        </a:spcBef>
        <a:buClr>
          <a:schemeClr val="accent1"/>
        </a:buClr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10000"/>
        </a:lnSpc>
        <a:spcBef>
          <a:spcPts val="500"/>
        </a:spcBef>
        <a:buClr>
          <a:schemeClr val="accent1"/>
        </a:buClr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4" Type="http://schemas.openxmlformats.org/officeDocument/2006/relationships/chart" Target="../charts/char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6.xml"/><Relationship Id="rId5" Type="http://schemas.openxmlformats.org/officeDocument/2006/relationships/chart" Target="../charts/chart3.xml"/><Relationship Id="rId4" Type="http://schemas.openxmlformats.org/officeDocument/2006/relationships/image" Target="../media/image4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4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4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6.xml"/><Relationship Id="rId5" Type="http://schemas.openxmlformats.org/officeDocument/2006/relationships/chart" Target="../charts/chart4.xml"/><Relationship Id="rId4" Type="http://schemas.openxmlformats.org/officeDocument/2006/relationships/image" Target="../media/image4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6.xml"/><Relationship Id="rId5" Type="http://schemas.openxmlformats.org/officeDocument/2006/relationships/chart" Target="../charts/chart5.xml"/><Relationship Id="rId4" Type="http://schemas.openxmlformats.org/officeDocument/2006/relationships/image" Target="../media/image4.png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7" name="Picture 96" descr="A colorful dots in a white background&#10;&#10;AI-generated content may be incorrect.">
            <a:extLst>
              <a:ext uri="{FF2B5EF4-FFF2-40B4-BE49-F238E27FC236}">
                <a16:creationId xmlns:a16="http://schemas.microsoft.com/office/drawing/2014/main" id="{E29F8680-F20B-09CE-D669-73E297BA87FE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60000"/>
          </a:blip>
          <a:srcRect t="10774" r="-1" b="14221"/>
          <a:stretch>
            <a:fillRect/>
          </a:stretch>
        </p:blipFill>
        <p:spPr>
          <a:xfrm>
            <a:off x="3048" y="10"/>
            <a:ext cx="12188952" cy="6856614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52CD18CF-D20F-4C55-BB28-CD1BD24B774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-1652795" y="282462"/>
            <a:ext cx="10190071" cy="3145855"/>
          </a:xfrm>
        </p:spPr>
        <p:txBody>
          <a:bodyPr anchor="b">
            <a:normAutofit/>
          </a:bodyPr>
          <a:lstStyle/>
          <a:p>
            <a:r>
              <a:rPr lang="en-US" sz="5200" dirty="0"/>
              <a:t>Root Cause Analysis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C3BA4A6-1624-BA5A-08DD-C3A31A012144}"/>
              </a:ext>
            </a:extLst>
          </p:cNvPr>
          <p:cNvSpPr txBox="1"/>
          <p:nvPr/>
        </p:nvSpPr>
        <p:spPr>
          <a:xfrm>
            <a:off x="960539" y="3428317"/>
            <a:ext cx="479850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/>
              <a:t>Profit Drop Investigation (2016 vs 2017)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617374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49" name="Rectangle 48">
            <a:extLst>
              <a:ext uri="{FF2B5EF4-FFF2-40B4-BE49-F238E27FC236}">
                <a16:creationId xmlns:a16="http://schemas.microsoft.com/office/drawing/2014/main" id="{A4FB2F27-3F7D-440E-A905-86607A926A2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>
                  <a:lumMod val="65000"/>
                  <a:lumOff val="35000"/>
                </a:schemeClr>
              </a:solidFill>
              <a:latin typeface="AvenirNext LT Pro Medium" panose="020B0504020202020204" pitchFamily="34" charset="0"/>
            </a:endParaRPr>
          </a:p>
        </p:txBody>
      </p:sp>
      <p:sp>
        <p:nvSpPr>
          <p:cNvPr id="51" name="Rectangle 50">
            <a:extLst>
              <a:ext uri="{FF2B5EF4-FFF2-40B4-BE49-F238E27FC236}">
                <a16:creationId xmlns:a16="http://schemas.microsoft.com/office/drawing/2014/main" id="{AF678C14-A033-4139-BCA9-8382B039648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8" y="0"/>
            <a:ext cx="12188952" cy="6858000"/>
          </a:xfrm>
          <a:prstGeom prst="rect">
            <a:avLst/>
          </a:prstGeom>
          <a:solidFill>
            <a:schemeClr val="bg2">
              <a:lumMod val="90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>
                  <a:lumMod val="65000"/>
                  <a:lumOff val="35000"/>
                </a:schemeClr>
              </a:solidFill>
              <a:latin typeface="AvenirNext LT Pro Medium" panose="020B0504020202020204" pitchFamily="34" charset="0"/>
            </a:endParaRPr>
          </a:p>
        </p:txBody>
      </p:sp>
      <p:grpSp>
        <p:nvGrpSpPr>
          <p:cNvPr id="53" name="Group 52">
            <a:extLst>
              <a:ext uri="{FF2B5EF4-FFF2-40B4-BE49-F238E27FC236}">
                <a16:creationId xmlns:a16="http://schemas.microsoft.com/office/drawing/2014/main" id="{14763DA8-CE3A-4B30-B2F5-0D128777F74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4464881" y="0"/>
            <a:ext cx="7724071" cy="6858000"/>
            <a:chOff x="4464881" y="0"/>
            <a:chExt cx="7724071" cy="6858000"/>
          </a:xfrm>
        </p:grpSpPr>
        <p:pic>
          <p:nvPicPr>
            <p:cNvPr id="54" name="Picture 53">
              <a:extLst>
                <a:ext uri="{FF2B5EF4-FFF2-40B4-BE49-F238E27FC236}">
                  <a16:creationId xmlns:a16="http://schemas.microsoft.com/office/drawing/2014/main" id="{F6B75A5A-FDA7-4C8E-BD65-8506C42AA86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PicPr>
              <a:picLocks noChangeAspect="1"/>
            </p:cNvPic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PicPr>
          <p:blipFill>
            <a:blip r:embed="rId2">
              <a:duotone>
                <a:schemeClr val="accent6">
                  <a:shade val="45000"/>
                  <a:satMod val="135000"/>
                </a:schemeClr>
                <a:prstClr val="white"/>
              </a:duotone>
              <a:alphaModFix amt="15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073255" y="0"/>
              <a:ext cx="5115697" cy="6858000"/>
            </a:xfrm>
            <a:prstGeom prst="rect">
              <a:avLst/>
            </a:prstGeom>
          </p:spPr>
        </p:pic>
        <p:pic>
          <p:nvPicPr>
            <p:cNvPr id="55" name="Picture 54">
              <a:extLst>
                <a:ext uri="{FF2B5EF4-FFF2-40B4-BE49-F238E27FC236}">
                  <a16:creationId xmlns:a16="http://schemas.microsoft.com/office/drawing/2014/main" id="{0E6AFCAB-12BF-4A0B-B089-A794259D2FC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PicPr>
              <a:picLocks noChangeAspect="1"/>
            </p:cNvPic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PicPr>
          <p:blipFill>
            <a:blip r:embed="rId3">
              <a:duotone>
                <a:schemeClr val="accent6">
                  <a:shade val="45000"/>
                  <a:satMod val="135000"/>
                </a:schemeClr>
                <a:prstClr val="white"/>
              </a:duotone>
              <a:alphaModFix amt="7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 rot="16200000">
              <a:off x="5412135" y="-947254"/>
              <a:ext cx="5562598" cy="7457106"/>
            </a:xfrm>
            <a:prstGeom prst="rect">
              <a:avLst/>
            </a:prstGeom>
            <a:effectLst>
              <a:softEdge rad="0"/>
            </a:effectLst>
          </p:spPr>
        </p:pic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8241A160-8839-A126-A6B9-702F343A441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2181" y="199800"/>
            <a:ext cx="4830604" cy="2682875"/>
          </a:xfrm>
        </p:spPr>
        <p:txBody>
          <a:bodyPr>
            <a:normAutofit/>
          </a:bodyPr>
          <a:lstStyle/>
          <a:p>
            <a:r>
              <a:rPr lang="en-US" sz="4000" dirty="0">
                <a:latin typeface="Aptos Black" panose="020F0502020204030204" pitchFamily="34" charset="0"/>
              </a:rPr>
              <a:t>Problem Definition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CFE6B6E-ECD0-6B74-9ACD-274B171C4A2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62118" y="2246880"/>
            <a:ext cx="4190730" cy="1317171"/>
          </a:xfrm>
        </p:spPr>
        <p:txBody>
          <a:bodyPr>
            <a:normAutofit fontScale="92500"/>
          </a:bodyPr>
          <a:lstStyle/>
          <a:p>
            <a:pPr algn="just"/>
            <a:r>
              <a:rPr lang="en-US" sz="2400" dirty="0">
                <a:latin typeface="Cairo" panose="00000500000000000000" pitchFamily="2" charset="-78"/>
                <a:cs typeface="Cairo" panose="00000500000000000000" pitchFamily="2" charset="-78"/>
              </a:rPr>
              <a:t>Profits Dropped from 2016 To 2017 in Central  Region by 62% and South Region By 50% .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17A76D07-7B3B-B923-734B-CEE404F0CB41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t="841" b="2150"/>
          <a:stretch>
            <a:fillRect/>
          </a:stretch>
        </p:blipFill>
        <p:spPr>
          <a:xfrm>
            <a:off x="5426451" y="1117600"/>
            <a:ext cx="6296604" cy="50364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2987328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3C66B0-D9A1-1998-A0A7-8ADAAF32D31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5780" y="247766"/>
            <a:ext cx="10895106" cy="1325563"/>
          </a:xfrm>
        </p:spPr>
        <p:txBody>
          <a:bodyPr>
            <a:normAutofit/>
          </a:bodyPr>
          <a:lstStyle/>
          <a:p>
            <a:pPr algn="ctr"/>
            <a:r>
              <a:rPr lang="en-US" sz="2800" b="1" dirty="0">
                <a:latin typeface="Aptos Black" panose="020B0004020202020204" pitchFamily="34" charset="0"/>
                <a:cs typeface="Cairo" panose="00000500000000000000" pitchFamily="2" charset="-78"/>
              </a:rPr>
              <a:t>Where The Drop Happened in the Central and South Region?</a:t>
            </a:r>
          </a:p>
        </p:txBody>
      </p:sp>
      <p:graphicFrame>
        <p:nvGraphicFramePr>
          <p:cNvPr id="5" name="Content Placeholder 4">
            <a:extLst>
              <a:ext uri="{FF2B5EF4-FFF2-40B4-BE49-F238E27FC236}">
                <a16:creationId xmlns:a16="http://schemas.microsoft.com/office/drawing/2014/main" id="{4298671D-F1CE-8BE7-5E5B-43BBCD753542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435820846"/>
              </p:ext>
            </p:extLst>
          </p:nvPr>
        </p:nvGraphicFramePr>
        <p:xfrm>
          <a:off x="545781" y="1573329"/>
          <a:ext cx="4548732" cy="4246901"/>
        </p:xfrm>
        <a:graphic>
          <a:graphicData uri="http://schemas.openxmlformats.org/drawingml/2006/table">
            <a:tbl>
              <a:tblPr firstRow="1" bandRow="1">
                <a:tableStyleId>{0E3FDE45-AF77-4B5C-9715-49D594BDF05E}</a:tableStyleId>
              </a:tblPr>
              <a:tblGrid>
                <a:gridCol w="1516244">
                  <a:extLst>
                    <a:ext uri="{9D8B030D-6E8A-4147-A177-3AD203B41FA5}">
                      <a16:colId xmlns:a16="http://schemas.microsoft.com/office/drawing/2014/main" val="1910006297"/>
                    </a:ext>
                  </a:extLst>
                </a:gridCol>
                <a:gridCol w="1516244">
                  <a:extLst>
                    <a:ext uri="{9D8B030D-6E8A-4147-A177-3AD203B41FA5}">
                      <a16:colId xmlns:a16="http://schemas.microsoft.com/office/drawing/2014/main" val="2281609033"/>
                    </a:ext>
                  </a:extLst>
                </a:gridCol>
                <a:gridCol w="1516244">
                  <a:extLst>
                    <a:ext uri="{9D8B030D-6E8A-4147-A177-3AD203B41FA5}">
                      <a16:colId xmlns:a16="http://schemas.microsoft.com/office/drawing/2014/main" val="292514639"/>
                    </a:ext>
                  </a:extLst>
                </a:gridCol>
              </a:tblGrid>
              <a:tr h="1231574">
                <a:tc>
                  <a:txBody>
                    <a:bodyPr/>
                    <a:lstStyle/>
                    <a:p>
                      <a:pPr algn="ctr"/>
                      <a:r>
                        <a:rPr lang="en-US" sz="2400">
                          <a:solidFill>
                            <a:schemeClr val="tx1"/>
                          </a:solidFill>
                        </a:rPr>
                        <a:t>Top 3 States</a:t>
                      </a:r>
                      <a:endParaRPr 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>
                          <a:solidFill>
                            <a:schemeClr val="tx1"/>
                          </a:solidFill>
                        </a:rPr>
                        <a:t>2016</a:t>
                      </a:r>
                      <a:endParaRPr 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2017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380920082"/>
                  </a:ext>
                </a:extLst>
              </a:tr>
              <a:tr h="966799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2400" b="0" u="none" strike="noStrike" dirty="0">
                          <a:solidFill>
                            <a:schemeClr val="tx1"/>
                          </a:solidFill>
                          <a:effectLst/>
                        </a:rPr>
                        <a:t>Virginia</a:t>
                      </a:r>
                      <a:endParaRPr lang="en-US" sz="2400" b="0" i="0" u="none" strike="noStrike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2400" b="0" u="none" strike="noStrike">
                          <a:solidFill>
                            <a:schemeClr val="tx1"/>
                          </a:solidFill>
                          <a:effectLst/>
                        </a:rPr>
                        <a:t>7.9K</a:t>
                      </a:r>
                      <a:endParaRPr lang="en-US" sz="2400" b="0" i="0" u="none" strike="noStrike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2400" b="0" u="none" strike="noStrike" dirty="0">
                          <a:solidFill>
                            <a:schemeClr val="tx1"/>
                          </a:solidFill>
                          <a:effectLst/>
                        </a:rPr>
                        <a:t>1.8K</a:t>
                      </a:r>
                      <a:endParaRPr lang="en-US" sz="2400" b="0" i="0" u="none" strike="noStrike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1153932311"/>
                  </a:ext>
                </a:extLst>
              </a:tr>
              <a:tr h="1031533">
                <a:tc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buNone/>
                      </a:pPr>
                      <a:r>
                        <a:rPr lang="en-US" sz="2400" b="0" u="none" strike="noStrike" kern="1200">
                          <a:solidFill>
                            <a:schemeClr val="tx1"/>
                          </a:solidFill>
                          <a:effectLst/>
                        </a:rPr>
                        <a:t>Indiana</a:t>
                      </a:r>
                      <a:endParaRPr lang="en-US" sz="2400" b="0" i="0" u="none" strike="noStrike" kern="1200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buNone/>
                      </a:pPr>
                      <a:r>
                        <a:rPr lang="en-US" sz="2400" b="0" u="none" strike="noStrike" kern="1200">
                          <a:solidFill>
                            <a:schemeClr val="tx1"/>
                          </a:solidFill>
                          <a:effectLst/>
                        </a:rPr>
                        <a:t>10.4K</a:t>
                      </a:r>
                      <a:endParaRPr lang="en-US" sz="2400" b="0" i="0" u="none" strike="noStrike" kern="1200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buNone/>
                      </a:pPr>
                      <a:r>
                        <a:rPr lang="en-US" sz="2400" b="0" u="none" strike="noStrike" kern="1200">
                          <a:solidFill>
                            <a:schemeClr val="tx1"/>
                          </a:solidFill>
                          <a:effectLst/>
                        </a:rPr>
                        <a:t>5.1K</a:t>
                      </a:r>
                      <a:endParaRPr lang="en-US" sz="2400" b="0" i="0" u="none" strike="noStrike" kern="1200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2440191448"/>
                  </a:ext>
                </a:extLst>
              </a:tr>
              <a:tr h="1016995">
                <a:tc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buNone/>
                      </a:pPr>
                      <a:r>
                        <a:rPr lang="en-US" sz="2400" b="0" u="none" strike="noStrike" kern="1200" dirty="0">
                          <a:solidFill>
                            <a:schemeClr val="tx1"/>
                          </a:solidFill>
                          <a:effectLst/>
                        </a:rPr>
                        <a:t>North Carolina</a:t>
                      </a:r>
                      <a:endParaRPr lang="en-US" sz="2400" b="0" i="0" u="none" strike="noStrike" kern="1200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buNone/>
                      </a:pPr>
                      <a:r>
                        <a:rPr lang="en-US" sz="2400" b="0" u="none" strike="noStrike" kern="1200">
                          <a:solidFill>
                            <a:schemeClr val="tx1"/>
                          </a:solidFill>
                          <a:effectLst/>
                        </a:rPr>
                        <a:t>0.3K</a:t>
                      </a:r>
                      <a:endParaRPr lang="en-US" sz="2400" b="0" i="0" u="none" strike="noStrike" kern="1200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buNone/>
                      </a:pPr>
                      <a:r>
                        <a:rPr lang="en-US" sz="2400" b="0" u="none" strike="noStrike" kern="1200" dirty="0">
                          <a:solidFill>
                            <a:schemeClr val="tx1"/>
                          </a:solidFill>
                          <a:effectLst/>
                        </a:rPr>
                        <a:t>-5.1K</a:t>
                      </a:r>
                      <a:endParaRPr lang="en-US" sz="2400" b="0" i="0" u="none" strike="noStrike" kern="1200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4127206747"/>
                  </a:ext>
                </a:extLst>
              </a:tr>
            </a:tbl>
          </a:graphicData>
        </a:graphic>
      </p:graphicFrame>
      <p:pic>
        <p:nvPicPr>
          <p:cNvPr id="8" name="Picture 7">
            <a:extLst>
              <a:ext uri="{FF2B5EF4-FFF2-40B4-BE49-F238E27FC236}">
                <a16:creationId xmlns:a16="http://schemas.microsoft.com/office/drawing/2014/main" id="{5DE54C99-FD98-38E7-13F3-509081F79D8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0" y="1573329"/>
            <a:ext cx="5181600" cy="42469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7429271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F8418A2-A4C9-3F46-E129-D2A935D7CAC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3ECBE9-2A29-37D9-E92A-A731C0EDC3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5780" y="247766"/>
            <a:ext cx="10895106" cy="1325563"/>
          </a:xfrm>
        </p:spPr>
        <p:txBody>
          <a:bodyPr>
            <a:normAutofit/>
          </a:bodyPr>
          <a:lstStyle/>
          <a:p>
            <a:pPr algn="ctr"/>
            <a:r>
              <a:rPr lang="en-US" sz="2800" b="1" dirty="0">
                <a:latin typeface="Aptos Black" panose="020B0004020202020204" pitchFamily="34" charset="0"/>
                <a:cs typeface="Cairo" panose="00000500000000000000" pitchFamily="2" charset="-78"/>
              </a:rPr>
              <a:t>Where The Drop Happened in the Central and South Region?</a:t>
            </a:r>
          </a:p>
        </p:txBody>
      </p:sp>
      <p:graphicFrame>
        <p:nvGraphicFramePr>
          <p:cNvPr id="5" name="Content Placeholder 4">
            <a:extLst>
              <a:ext uri="{FF2B5EF4-FFF2-40B4-BE49-F238E27FC236}">
                <a16:creationId xmlns:a16="http://schemas.microsoft.com/office/drawing/2014/main" id="{64BC8CBE-919E-A21B-B70B-A288BD534624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915671707"/>
              </p:ext>
            </p:extLst>
          </p:nvPr>
        </p:nvGraphicFramePr>
        <p:xfrm>
          <a:off x="545780" y="1573329"/>
          <a:ext cx="5361536" cy="4246901"/>
        </p:xfrm>
        <a:graphic>
          <a:graphicData uri="http://schemas.openxmlformats.org/drawingml/2006/table">
            <a:tbl>
              <a:tblPr firstRow="1" bandRow="1">
                <a:tableStyleId>{0E3FDE45-AF77-4B5C-9715-49D594BDF05E}</a:tableStyleId>
              </a:tblPr>
              <a:tblGrid>
                <a:gridCol w="1340384">
                  <a:extLst>
                    <a:ext uri="{9D8B030D-6E8A-4147-A177-3AD203B41FA5}">
                      <a16:colId xmlns:a16="http://schemas.microsoft.com/office/drawing/2014/main" val="1910006297"/>
                    </a:ext>
                  </a:extLst>
                </a:gridCol>
                <a:gridCol w="1340384">
                  <a:extLst>
                    <a:ext uri="{9D8B030D-6E8A-4147-A177-3AD203B41FA5}">
                      <a16:colId xmlns:a16="http://schemas.microsoft.com/office/drawing/2014/main" val="2281609033"/>
                    </a:ext>
                  </a:extLst>
                </a:gridCol>
                <a:gridCol w="1340384">
                  <a:extLst>
                    <a:ext uri="{9D8B030D-6E8A-4147-A177-3AD203B41FA5}">
                      <a16:colId xmlns:a16="http://schemas.microsoft.com/office/drawing/2014/main" val="292514639"/>
                    </a:ext>
                  </a:extLst>
                </a:gridCol>
                <a:gridCol w="1340384">
                  <a:extLst>
                    <a:ext uri="{9D8B030D-6E8A-4147-A177-3AD203B41FA5}">
                      <a16:colId xmlns:a16="http://schemas.microsoft.com/office/drawing/2014/main" val="2912142282"/>
                    </a:ext>
                  </a:extLst>
                </a:gridCol>
              </a:tblGrid>
              <a:tr h="1231574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Top 3 States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2016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2017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Growth Rate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380920082"/>
                  </a:ext>
                </a:extLst>
              </a:tr>
              <a:tr h="966799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2400" b="0" u="none" strike="noStrike">
                          <a:solidFill>
                            <a:schemeClr val="tx1"/>
                          </a:solidFill>
                          <a:effectLst/>
                        </a:rPr>
                        <a:t>Virginia</a:t>
                      </a:r>
                      <a:endParaRPr lang="en-US" sz="2400" b="0" i="0" u="none" strike="noStrike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2400" b="0" u="none" strike="noStrike">
                          <a:solidFill>
                            <a:schemeClr val="tx1"/>
                          </a:solidFill>
                          <a:effectLst/>
                        </a:rPr>
                        <a:t>7.9K</a:t>
                      </a:r>
                      <a:endParaRPr lang="en-US" sz="2400" b="0" i="0" u="none" strike="noStrike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2400" b="0" u="none" strike="noStrike" dirty="0">
                          <a:solidFill>
                            <a:schemeClr val="tx1"/>
                          </a:solidFill>
                          <a:effectLst/>
                        </a:rPr>
                        <a:t>1.8K</a:t>
                      </a:r>
                      <a:endParaRPr lang="en-US" sz="2400" b="0" i="0" u="none" strike="noStrike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buNone/>
                      </a:pPr>
                      <a:r>
                        <a:rPr lang="en-US" sz="2400" b="0" u="none" strike="noStrike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-77%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1153932311"/>
                  </a:ext>
                </a:extLst>
              </a:tr>
              <a:tr h="1031533">
                <a:tc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buNone/>
                      </a:pPr>
                      <a:r>
                        <a:rPr lang="en-US" sz="2400" b="0" u="none" strike="noStrike" kern="1200">
                          <a:solidFill>
                            <a:schemeClr val="tx1"/>
                          </a:solidFill>
                          <a:effectLst/>
                        </a:rPr>
                        <a:t>Indiana</a:t>
                      </a:r>
                      <a:endParaRPr lang="en-US" sz="2400" b="0" i="0" u="none" strike="noStrike" kern="1200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buNone/>
                      </a:pPr>
                      <a:r>
                        <a:rPr lang="en-US" sz="2400" b="0" u="none" strike="noStrike" kern="1200">
                          <a:solidFill>
                            <a:schemeClr val="tx1"/>
                          </a:solidFill>
                          <a:effectLst/>
                        </a:rPr>
                        <a:t>10.4K</a:t>
                      </a:r>
                      <a:endParaRPr lang="en-US" sz="2400" b="0" i="0" u="none" strike="noStrike" kern="1200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buNone/>
                      </a:pPr>
                      <a:r>
                        <a:rPr lang="en-US" sz="2400" b="0" u="none" strike="noStrike" kern="1200" dirty="0">
                          <a:solidFill>
                            <a:schemeClr val="tx1"/>
                          </a:solidFill>
                          <a:effectLst/>
                        </a:rPr>
                        <a:t>5.1K</a:t>
                      </a:r>
                      <a:endParaRPr lang="en-US" sz="2400" b="0" i="0" u="none" strike="noStrike" kern="1200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buNone/>
                      </a:pPr>
                      <a:r>
                        <a:rPr lang="en-US" sz="2400" b="0" u="none" strike="noStrike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-51%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2440191448"/>
                  </a:ext>
                </a:extLst>
              </a:tr>
              <a:tr h="1016995">
                <a:tc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buNone/>
                      </a:pPr>
                      <a:r>
                        <a:rPr lang="en-US" sz="2400" b="0" u="none" strike="noStrike" kern="1200">
                          <a:solidFill>
                            <a:schemeClr val="tx1"/>
                          </a:solidFill>
                          <a:effectLst/>
                        </a:rPr>
                        <a:t>North Carolina</a:t>
                      </a:r>
                      <a:endParaRPr lang="en-US" sz="2400" b="0" i="0" u="none" strike="noStrike" kern="1200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buNone/>
                      </a:pPr>
                      <a:r>
                        <a:rPr lang="en-US" sz="2400" b="0" u="none" strike="noStrike" kern="1200">
                          <a:solidFill>
                            <a:schemeClr val="tx1"/>
                          </a:solidFill>
                          <a:effectLst/>
                        </a:rPr>
                        <a:t>0.3K</a:t>
                      </a:r>
                      <a:endParaRPr lang="en-US" sz="2400" b="0" i="0" u="none" strike="noStrike" kern="1200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buNone/>
                      </a:pPr>
                      <a:r>
                        <a:rPr lang="en-US" sz="2400" b="0" u="none" strike="noStrike" kern="1200" dirty="0">
                          <a:solidFill>
                            <a:schemeClr val="tx1"/>
                          </a:solidFill>
                          <a:effectLst/>
                        </a:rPr>
                        <a:t>-5.1K</a:t>
                      </a:r>
                      <a:endParaRPr lang="en-US" sz="2400" b="0" i="0" u="none" strike="noStrike" kern="1200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buNone/>
                      </a:pPr>
                      <a:r>
                        <a:rPr lang="en-US" sz="2400" b="0" u="none" strike="noStrike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-2051%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4127206747"/>
                  </a:ext>
                </a:extLst>
              </a:tr>
            </a:tbl>
          </a:graphicData>
        </a:graphic>
      </p:graphicFrame>
      <p:graphicFrame>
        <p:nvGraphicFramePr>
          <p:cNvPr id="3" name="Chart 2">
            <a:extLst>
              <a:ext uri="{FF2B5EF4-FFF2-40B4-BE49-F238E27FC236}">
                <a16:creationId xmlns:a16="http://schemas.microsoft.com/office/drawing/2014/main" id="{E4F234D8-5DA4-3FB4-6B2F-CCEA9A8FECA6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740726894"/>
              </p:ext>
            </p:extLst>
          </p:nvPr>
        </p:nvGraphicFramePr>
        <p:xfrm>
          <a:off x="6187877" y="1679308"/>
          <a:ext cx="5732274" cy="4037751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197251936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AB8EA6D-544B-6A50-2057-D398E68F03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A4FB2F27-3F7D-440E-A905-86607A926A2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>
                  <a:lumMod val="65000"/>
                  <a:lumOff val="35000"/>
                </a:schemeClr>
              </a:solidFill>
              <a:latin typeface="AvenirNext LT Pro Medium" panose="020B0504020202020204" pitchFamily="34" charset="0"/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AF678C14-A033-4139-BCA9-8382B039648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8" y="0"/>
            <a:ext cx="12188952" cy="6858000"/>
          </a:xfrm>
          <a:prstGeom prst="rect">
            <a:avLst/>
          </a:prstGeom>
          <a:solidFill>
            <a:schemeClr val="bg2">
              <a:lumMod val="90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>
                  <a:lumMod val="65000"/>
                  <a:lumOff val="35000"/>
                </a:schemeClr>
              </a:solidFill>
              <a:latin typeface="AvenirNext LT Pro Medium" panose="020B0504020202020204" pitchFamily="34" charset="0"/>
            </a:endParaRPr>
          </a:p>
        </p:txBody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id="{14763DA8-CE3A-4B30-B2F5-0D128777F74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4464881" y="0"/>
            <a:ext cx="7724071" cy="6858000"/>
            <a:chOff x="4464881" y="0"/>
            <a:chExt cx="7724071" cy="6858000"/>
          </a:xfrm>
        </p:grpSpPr>
        <p:pic>
          <p:nvPicPr>
            <p:cNvPr id="15" name="Picture 14">
              <a:extLst>
                <a:ext uri="{FF2B5EF4-FFF2-40B4-BE49-F238E27FC236}">
                  <a16:creationId xmlns:a16="http://schemas.microsoft.com/office/drawing/2014/main" id="{F6B75A5A-FDA7-4C8E-BD65-8506C42AA86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PicPr>
              <a:picLocks noChangeAspect="1"/>
            </p:cNvPic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PicPr>
          <p:blipFill>
            <a:blip r:embed="rId2">
              <a:duotone>
                <a:schemeClr val="accent6">
                  <a:shade val="45000"/>
                  <a:satMod val="135000"/>
                </a:schemeClr>
                <a:prstClr val="white"/>
              </a:duotone>
              <a:alphaModFix amt="15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073255" y="0"/>
              <a:ext cx="5115697" cy="6858000"/>
            </a:xfrm>
            <a:prstGeom prst="rect">
              <a:avLst/>
            </a:prstGeom>
          </p:spPr>
        </p:pic>
        <p:pic>
          <p:nvPicPr>
            <p:cNvPr id="16" name="Picture 15">
              <a:extLst>
                <a:ext uri="{FF2B5EF4-FFF2-40B4-BE49-F238E27FC236}">
                  <a16:creationId xmlns:a16="http://schemas.microsoft.com/office/drawing/2014/main" id="{0E6AFCAB-12BF-4A0B-B089-A794259D2FC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PicPr>
              <a:picLocks noChangeAspect="1"/>
            </p:cNvPic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PicPr>
          <p:blipFill>
            <a:blip r:embed="rId3">
              <a:duotone>
                <a:schemeClr val="accent6">
                  <a:shade val="45000"/>
                  <a:satMod val="135000"/>
                </a:schemeClr>
                <a:prstClr val="white"/>
              </a:duotone>
              <a:alphaModFix amt="7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 rot="16200000">
              <a:off x="5412135" y="-947254"/>
              <a:ext cx="5562598" cy="7457106"/>
            </a:xfrm>
            <a:prstGeom prst="rect">
              <a:avLst/>
            </a:prstGeom>
            <a:effectLst>
              <a:softEdge rad="0"/>
            </a:effectLst>
          </p:spPr>
        </p:pic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352276E1-EB9E-3134-84E0-567F60A7CCC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6040" y="457802"/>
            <a:ext cx="8143117" cy="1321571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2800" dirty="0">
                <a:latin typeface="Aptos Black" panose="020B0004020202020204" pitchFamily="34" charset="0"/>
              </a:rPr>
              <a:t>Where The Drop Happened in the Central and South Region?</a:t>
            </a:r>
          </a:p>
        </p:txBody>
      </p:sp>
      <p:graphicFrame>
        <p:nvGraphicFramePr>
          <p:cNvPr id="9" name="Content Placeholder 4">
            <a:extLst>
              <a:ext uri="{FF2B5EF4-FFF2-40B4-BE49-F238E27FC236}">
                <a16:creationId xmlns:a16="http://schemas.microsoft.com/office/drawing/2014/main" id="{1EB0BF05-EF75-BFE8-0C16-2104ED187F20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182109637"/>
              </p:ext>
            </p:extLst>
          </p:nvPr>
        </p:nvGraphicFramePr>
        <p:xfrm>
          <a:off x="5428735" y="1923880"/>
          <a:ext cx="6598510" cy="4246901"/>
        </p:xfrm>
        <a:graphic>
          <a:graphicData uri="http://schemas.openxmlformats.org/drawingml/2006/table">
            <a:tbl>
              <a:tblPr firstRow="1" bandRow="1">
                <a:tableStyleId>{0E3FDE45-AF77-4B5C-9715-49D594BDF05E}</a:tableStyleId>
              </a:tblPr>
              <a:tblGrid>
                <a:gridCol w="1319702">
                  <a:extLst>
                    <a:ext uri="{9D8B030D-6E8A-4147-A177-3AD203B41FA5}">
                      <a16:colId xmlns:a16="http://schemas.microsoft.com/office/drawing/2014/main" val="1910006297"/>
                    </a:ext>
                  </a:extLst>
                </a:gridCol>
                <a:gridCol w="1044558">
                  <a:extLst>
                    <a:ext uri="{9D8B030D-6E8A-4147-A177-3AD203B41FA5}">
                      <a16:colId xmlns:a16="http://schemas.microsoft.com/office/drawing/2014/main" val="2281609033"/>
                    </a:ext>
                  </a:extLst>
                </a:gridCol>
                <a:gridCol w="1326291">
                  <a:extLst>
                    <a:ext uri="{9D8B030D-6E8A-4147-A177-3AD203B41FA5}">
                      <a16:colId xmlns:a16="http://schemas.microsoft.com/office/drawing/2014/main" val="292514639"/>
                    </a:ext>
                  </a:extLst>
                </a:gridCol>
                <a:gridCol w="1588257">
                  <a:extLst>
                    <a:ext uri="{9D8B030D-6E8A-4147-A177-3AD203B41FA5}">
                      <a16:colId xmlns:a16="http://schemas.microsoft.com/office/drawing/2014/main" val="2912142282"/>
                    </a:ext>
                  </a:extLst>
                </a:gridCol>
                <a:gridCol w="1319702">
                  <a:extLst>
                    <a:ext uri="{9D8B030D-6E8A-4147-A177-3AD203B41FA5}">
                      <a16:colId xmlns:a16="http://schemas.microsoft.com/office/drawing/2014/main" val="2598616918"/>
                    </a:ext>
                  </a:extLst>
                </a:gridCol>
              </a:tblGrid>
              <a:tr h="1231574"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Top 3 States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2016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2017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Growth Rate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>
                          <a:solidFill>
                            <a:schemeClr val="tx1"/>
                          </a:solidFill>
                        </a:rPr>
                        <a:t>Profit Difference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380920082"/>
                  </a:ext>
                </a:extLst>
              </a:tr>
              <a:tr h="966799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800" b="0" u="none" strike="noStrike">
                          <a:solidFill>
                            <a:schemeClr val="tx1"/>
                          </a:solidFill>
                          <a:effectLst/>
                        </a:rPr>
                        <a:t>Virginia</a:t>
                      </a:r>
                      <a:endParaRPr lang="en-US" sz="1800" b="0" i="0" u="none" strike="noStrike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800" b="1" u="none" strike="noStrike">
                          <a:solidFill>
                            <a:schemeClr val="tx1"/>
                          </a:solidFill>
                          <a:effectLst/>
                        </a:rPr>
                        <a:t>7.9K</a:t>
                      </a:r>
                      <a:endParaRPr lang="en-US" sz="1800" b="1" i="0" u="none" strike="noStrike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800" b="1" u="none" strike="noStrike" dirty="0">
                          <a:solidFill>
                            <a:schemeClr val="tx1"/>
                          </a:solidFill>
                          <a:effectLst/>
                        </a:rPr>
                        <a:t>1.8K</a:t>
                      </a:r>
                      <a:endParaRPr lang="en-US" sz="1800" b="1" i="0" u="none" strike="noStrike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buNone/>
                      </a:pPr>
                      <a:r>
                        <a:rPr lang="en-US" sz="1800" b="1" u="none" strike="noStrike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-77%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ar-EG" sz="16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-</a:t>
                      </a:r>
                      <a:r>
                        <a:rPr lang="en-US" sz="1800" b="1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6.05K</a:t>
                      </a:r>
                      <a:endParaRPr lang="en-US" sz="1600" dirty="0">
                        <a:effectLst/>
                      </a:endParaRPr>
                    </a:p>
                    <a:p>
                      <a:pPr algn="ctr" fontAlgn="b">
                        <a:buNone/>
                      </a:pPr>
                      <a:endParaRPr lang="en-US" sz="16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620" marR="7620" marT="7620" marB="0" anchor="ctr"/>
                </a:tc>
                <a:extLst>
                  <a:ext uri="{0D108BD9-81ED-4DB2-BD59-A6C34878D82A}">
                    <a16:rowId xmlns:a16="http://schemas.microsoft.com/office/drawing/2014/main" val="1153932311"/>
                  </a:ext>
                </a:extLst>
              </a:tr>
              <a:tr h="1031533">
                <a:tc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buNone/>
                      </a:pPr>
                      <a:r>
                        <a:rPr lang="en-US" sz="1800" b="0" u="none" strike="noStrike" kern="1200">
                          <a:solidFill>
                            <a:schemeClr val="tx1"/>
                          </a:solidFill>
                          <a:effectLst/>
                        </a:rPr>
                        <a:t>Indiana</a:t>
                      </a:r>
                      <a:endParaRPr lang="en-US" sz="1800" b="0" i="0" u="none" strike="noStrike" kern="1200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buNone/>
                      </a:pPr>
                      <a:r>
                        <a:rPr lang="en-US" sz="1800" b="1" u="none" strike="noStrike" kern="1200">
                          <a:solidFill>
                            <a:schemeClr val="tx1"/>
                          </a:solidFill>
                          <a:effectLst/>
                        </a:rPr>
                        <a:t>10.4K</a:t>
                      </a:r>
                      <a:endParaRPr lang="en-US" sz="1800" b="1" i="0" u="none" strike="noStrike" kern="1200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buNone/>
                      </a:pPr>
                      <a:r>
                        <a:rPr lang="en-US" sz="1800" b="1" u="none" strike="noStrike" kern="1200" dirty="0">
                          <a:solidFill>
                            <a:schemeClr val="tx1"/>
                          </a:solidFill>
                          <a:effectLst/>
                        </a:rPr>
                        <a:t>5.1K</a:t>
                      </a:r>
                      <a:endParaRPr lang="en-US" sz="1800" b="1" i="0" u="none" strike="noStrike" kern="1200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buNone/>
                      </a:pPr>
                      <a:r>
                        <a:rPr lang="en-US" sz="1800" b="1" u="none" strike="noStrike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-51%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0" eaLnBrk="1" fontAlgn="b" latinLnBrk="0" hangingPunct="1"/>
                      <a:r>
                        <a:rPr lang="en-US" sz="1800" b="1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-5.25K</a:t>
                      </a:r>
                      <a:endParaRPr lang="en-US" sz="1600" dirty="0">
                        <a:effectLst/>
                      </a:endParaRPr>
                    </a:p>
                  </a:txBody>
                  <a:tcPr marL="7620" marR="7620" marT="7620" marB="0" anchor="ctr"/>
                </a:tc>
                <a:extLst>
                  <a:ext uri="{0D108BD9-81ED-4DB2-BD59-A6C34878D82A}">
                    <a16:rowId xmlns:a16="http://schemas.microsoft.com/office/drawing/2014/main" val="2440191448"/>
                  </a:ext>
                </a:extLst>
              </a:tr>
              <a:tr h="1016995">
                <a:tc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buNone/>
                      </a:pPr>
                      <a:r>
                        <a:rPr lang="en-US" sz="1800" b="0" u="none" strike="noStrike" kern="1200">
                          <a:solidFill>
                            <a:schemeClr val="tx1"/>
                          </a:solidFill>
                          <a:effectLst/>
                        </a:rPr>
                        <a:t>North Carolina</a:t>
                      </a:r>
                      <a:endParaRPr lang="en-US" sz="1800" b="0" i="0" u="none" strike="noStrike" kern="1200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buNone/>
                      </a:pPr>
                      <a:r>
                        <a:rPr lang="en-US" sz="1800" b="1" u="none" strike="noStrike" kern="1200">
                          <a:solidFill>
                            <a:schemeClr val="tx1"/>
                          </a:solidFill>
                          <a:effectLst/>
                        </a:rPr>
                        <a:t>0.3K</a:t>
                      </a:r>
                      <a:endParaRPr lang="en-US" sz="1800" b="1" i="0" u="none" strike="noStrike" kern="1200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buNone/>
                      </a:pPr>
                      <a:r>
                        <a:rPr lang="en-US" sz="1800" b="1" u="none" strike="noStrike" kern="1200" dirty="0">
                          <a:solidFill>
                            <a:schemeClr val="tx1"/>
                          </a:solidFill>
                          <a:effectLst/>
                        </a:rPr>
                        <a:t>-5.1K</a:t>
                      </a:r>
                      <a:endParaRPr lang="en-US" sz="1800" b="1" i="0" u="none" strike="noStrike" kern="1200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buNone/>
                      </a:pPr>
                      <a:r>
                        <a:rPr lang="en-US" sz="1800" b="1" u="none" strike="noStrike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-2051%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0" eaLnBrk="1" fontAlgn="b" latinLnBrk="0" hangingPunct="1"/>
                      <a:r>
                        <a:rPr lang="en-US" sz="1800" b="1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-5.35K</a:t>
                      </a:r>
                      <a:endParaRPr lang="en-US" sz="1600" dirty="0">
                        <a:effectLst/>
                      </a:endParaRPr>
                    </a:p>
                  </a:txBody>
                  <a:tcPr marL="7620" marR="7620" marT="7620" marB="0" anchor="ctr"/>
                </a:tc>
                <a:extLst>
                  <a:ext uri="{0D108BD9-81ED-4DB2-BD59-A6C34878D82A}">
                    <a16:rowId xmlns:a16="http://schemas.microsoft.com/office/drawing/2014/main" val="4127206747"/>
                  </a:ext>
                </a:extLst>
              </a:tr>
            </a:tbl>
          </a:graphicData>
        </a:graphic>
      </p:graphicFrame>
      <p:graphicFrame>
        <p:nvGraphicFramePr>
          <p:cNvPr id="4" name="Chart 3">
            <a:extLst>
              <a:ext uri="{FF2B5EF4-FFF2-40B4-BE49-F238E27FC236}">
                <a16:creationId xmlns:a16="http://schemas.microsoft.com/office/drawing/2014/main" id="{5C96D31B-87CD-E551-E2A4-CAB9439AE076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310776379"/>
              </p:ext>
            </p:extLst>
          </p:nvPr>
        </p:nvGraphicFramePr>
        <p:xfrm>
          <a:off x="164755" y="1779373"/>
          <a:ext cx="4852088" cy="4901513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</p:spTree>
    <p:extLst>
      <p:ext uri="{BB962C8B-B14F-4D97-AF65-F5344CB8AC3E}">
        <p14:creationId xmlns:p14="http://schemas.microsoft.com/office/powerpoint/2010/main" val="22709968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87584AB-8347-37A1-B216-55126B05F4E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723F9307-39D6-D1FD-59C3-7541D7449C4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>
                  <a:lumMod val="65000"/>
                  <a:lumOff val="35000"/>
                </a:schemeClr>
              </a:solidFill>
              <a:latin typeface="AvenirNext LT Pro Medium" panose="020B0504020202020204" pitchFamily="34" charset="0"/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D02AC6FF-FE6E-8F4C-38DC-7592DB1784E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8" y="0"/>
            <a:ext cx="12188952" cy="6858000"/>
          </a:xfrm>
          <a:prstGeom prst="rect">
            <a:avLst/>
          </a:prstGeom>
          <a:solidFill>
            <a:schemeClr val="bg2">
              <a:lumMod val="90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>
                  <a:lumMod val="65000"/>
                  <a:lumOff val="35000"/>
                </a:schemeClr>
              </a:solidFill>
              <a:latin typeface="AvenirNext LT Pro Medium" panose="020B0504020202020204" pitchFamily="34" charset="0"/>
            </a:endParaRPr>
          </a:p>
        </p:txBody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id="{D0EF914F-DD73-D4A2-BD27-4151A63963E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4464881" y="0"/>
            <a:ext cx="7724071" cy="6858000"/>
            <a:chOff x="4464881" y="0"/>
            <a:chExt cx="7724071" cy="6858000"/>
          </a:xfrm>
        </p:grpSpPr>
        <p:pic>
          <p:nvPicPr>
            <p:cNvPr id="15" name="Picture 14">
              <a:extLst>
                <a:ext uri="{FF2B5EF4-FFF2-40B4-BE49-F238E27FC236}">
                  <a16:creationId xmlns:a16="http://schemas.microsoft.com/office/drawing/2014/main" id="{EA946935-E90F-0914-C601-9F91E5A5888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PicPr>
              <a:picLocks noChangeAspect="1"/>
            </p:cNvPic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PicPr>
          <p:blipFill>
            <a:blip r:embed="rId2">
              <a:duotone>
                <a:schemeClr val="accent6">
                  <a:shade val="45000"/>
                  <a:satMod val="135000"/>
                </a:schemeClr>
                <a:prstClr val="white"/>
              </a:duotone>
              <a:alphaModFix amt="15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073255" y="0"/>
              <a:ext cx="5115697" cy="6858000"/>
            </a:xfrm>
            <a:prstGeom prst="rect">
              <a:avLst/>
            </a:prstGeom>
          </p:spPr>
        </p:pic>
        <p:pic>
          <p:nvPicPr>
            <p:cNvPr id="16" name="Picture 15">
              <a:extLst>
                <a:ext uri="{FF2B5EF4-FFF2-40B4-BE49-F238E27FC236}">
                  <a16:creationId xmlns:a16="http://schemas.microsoft.com/office/drawing/2014/main" id="{DC08ECEE-22CB-B8B2-AC8D-7BC8D9B0EDE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PicPr>
              <a:picLocks noChangeAspect="1"/>
            </p:cNvPic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PicPr>
          <p:blipFill>
            <a:blip r:embed="rId3">
              <a:duotone>
                <a:schemeClr val="accent6">
                  <a:shade val="45000"/>
                  <a:satMod val="135000"/>
                </a:schemeClr>
                <a:prstClr val="white"/>
              </a:duotone>
              <a:alphaModFix amt="7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 rot="16200000">
              <a:off x="5412135" y="-947254"/>
              <a:ext cx="5562598" cy="7457106"/>
            </a:xfrm>
            <a:prstGeom prst="rect">
              <a:avLst/>
            </a:prstGeom>
            <a:effectLst>
              <a:softEdge rad="0"/>
            </a:effectLst>
          </p:spPr>
        </p:pic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15DB5959-4EC1-E0A3-DD79-DD2C3321C4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6041" y="457802"/>
            <a:ext cx="8217256" cy="1341437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3200" dirty="0">
                <a:latin typeface="Aptos Black" panose="020B0004020202020204" pitchFamily="34" charset="0"/>
              </a:rPr>
              <a:t>Where The Drop Happened in the Central and South Region?</a:t>
            </a:r>
          </a:p>
        </p:txBody>
      </p:sp>
      <p:graphicFrame>
        <p:nvGraphicFramePr>
          <p:cNvPr id="5" name="Content Placeholder 4">
            <a:extLst>
              <a:ext uri="{FF2B5EF4-FFF2-40B4-BE49-F238E27FC236}">
                <a16:creationId xmlns:a16="http://schemas.microsoft.com/office/drawing/2014/main" id="{FE6D2295-4C24-FF52-001D-169819D88337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556632409"/>
              </p:ext>
            </p:extLst>
          </p:nvPr>
        </p:nvGraphicFramePr>
        <p:xfrm>
          <a:off x="675503" y="2458265"/>
          <a:ext cx="10313770" cy="4288523"/>
        </p:xfrm>
        <a:graphic>
          <a:graphicData uri="http://schemas.openxmlformats.org/drawingml/2006/table">
            <a:tbl>
              <a:tblPr firstRow="1" bandRow="1">
                <a:tableStyleId>{0E3FDE45-AF77-4B5C-9715-49D594BDF05E}</a:tableStyleId>
              </a:tblPr>
              <a:tblGrid>
                <a:gridCol w="2515942">
                  <a:extLst>
                    <a:ext uri="{9D8B030D-6E8A-4147-A177-3AD203B41FA5}">
                      <a16:colId xmlns:a16="http://schemas.microsoft.com/office/drawing/2014/main" val="1910006297"/>
                    </a:ext>
                  </a:extLst>
                </a:gridCol>
                <a:gridCol w="1949457">
                  <a:extLst>
                    <a:ext uri="{9D8B030D-6E8A-4147-A177-3AD203B41FA5}">
                      <a16:colId xmlns:a16="http://schemas.microsoft.com/office/drawing/2014/main" val="2281609033"/>
                    </a:ext>
                  </a:extLst>
                </a:gridCol>
                <a:gridCol w="1949457">
                  <a:extLst>
                    <a:ext uri="{9D8B030D-6E8A-4147-A177-3AD203B41FA5}">
                      <a16:colId xmlns:a16="http://schemas.microsoft.com/office/drawing/2014/main" val="292514639"/>
                    </a:ext>
                  </a:extLst>
                </a:gridCol>
                <a:gridCol w="1949457">
                  <a:extLst>
                    <a:ext uri="{9D8B030D-6E8A-4147-A177-3AD203B41FA5}">
                      <a16:colId xmlns:a16="http://schemas.microsoft.com/office/drawing/2014/main" val="1510458707"/>
                    </a:ext>
                  </a:extLst>
                </a:gridCol>
                <a:gridCol w="1949457">
                  <a:extLst>
                    <a:ext uri="{9D8B030D-6E8A-4147-A177-3AD203B41FA5}">
                      <a16:colId xmlns:a16="http://schemas.microsoft.com/office/drawing/2014/main" val="1035560871"/>
                    </a:ext>
                  </a:extLst>
                </a:gridCol>
              </a:tblGrid>
              <a:tr h="1586125">
                <a:tc>
                  <a:txBody>
                    <a:bodyPr/>
                    <a:lstStyle/>
                    <a:p>
                      <a:pPr algn="ctr"/>
                      <a:r>
                        <a:rPr lang="en-US" sz="2000" b="0" dirty="0">
                          <a:solidFill>
                            <a:schemeClr val="tx1"/>
                          </a:solidFill>
                        </a:rPr>
                        <a:t>City</a:t>
                      </a:r>
                    </a:p>
                  </a:txBody>
                  <a:tcPr marL="115453" marR="115453" marT="57726" marB="57726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0" dirty="0">
                          <a:solidFill>
                            <a:schemeClr val="tx1"/>
                          </a:solidFill>
                        </a:rPr>
                        <a:t>2016</a:t>
                      </a:r>
                    </a:p>
                  </a:txBody>
                  <a:tcPr marL="115453" marR="115453" marT="57726" marB="57726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0" dirty="0">
                          <a:solidFill>
                            <a:schemeClr val="tx1"/>
                          </a:solidFill>
                        </a:rPr>
                        <a:t>2017</a:t>
                      </a:r>
                    </a:p>
                  </a:txBody>
                  <a:tcPr marL="115453" marR="115453" marT="57726" marB="57726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2000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Growth rate 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Profit Difference</a:t>
                      </a:r>
                    </a:p>
                  </a:txBody>
                  <a:tcPr marL="115453" marR="115453" marT="57726" marB="57726" anchor="ctr"/>
                </a:tc>
                <a:extLst>
                  <a:ext uri="{0D108BD9-81ED-4DB2-BD59-A6C34878D82A}">
                    <a16:rowId xmlns:a16="http://schemas.microsoft.com/office/drawing/2014/main" val="3380920082"/>
                  </a:ext>
                </a:extLst>
              </a:tr>
              <a:tr h="1351199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800" b="0" i="0" u="none" strike="noStrike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Lafayette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800" b="1" i="0" u="none" strike="noStrike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8.8K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800" b="1" i="0" u="none" strike="noStrike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0.2K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8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-98%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8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-8.56K</a:t>
                      </a:r>
                    </a:p>
                  </a:txBody>
                  <a:tcPr marL="7620" marR="7620" marT="7620" marB="0" anchor="ctr"/>
                </a:tc>
                <a:extLst>
                  <a:ext uri="{0D108BD9-81ED-4DB2-BD59-A6C34878D82A}">
                    <a16:rowId xmlns:a16="http://schemas.microsoft.com/office/drawing/2014/main" val="1153932311"/>
                  </a:ext>
                </a:extLst>
              </a:tr>
              <a:tr h="1351199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800" b="0" i="0" u="none" strike="noStrike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Burlington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800" b="1" i="0" u="none" strike="noStrike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-0.2K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800" b="1" i="0" u="none" strike="noStrike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-5.7K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8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-2755%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8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-5.50K</a:t>
                      </a:r>
                    </a:p>
                  </a:txBody>
                  <a:tcPr marL="7620" marR="7620" marT="7620" marB="0" anchor="ctr"/>
                </a:tc>
                <a:extLst>
                  <a:ext uri="{0D108BD9-81ED-4DB2-BD59-A6C34878D82A}">
                    <a16:rowId xmlns:a16="http://schemas.microsoft.com/office/drawing/2014/main" val="244019144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05966496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Rectangle 20">
            <a:extLst>
              <a:ext uri="{FF2B5EF4-FFF2-40B4-BE49-F238E27FC236}">
                <a16:creationId xmlns:a16="http://schemas.microsoft.com/office/drawing/2014/main" id="{0BABF38A-8A0D-492E-BD20-6CF4D46B50B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4"/>
          </a:xfrm>
          <a:prstGeom prst="rect">
            <a:avLst/>
          </a:prstGeom>
          <a:solidFill>
            <a:schemeClr val="bg2">
              <a:lumMod val="90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>
                  <a:lumMod val="65000"/>
                  <a:lumOff val="35000"/>
                </a:schemeClr>
              </a:solidFill>
              <a:latin typeface="AvenirNext LT Pro Medium" panose="020B0504020202020204" pitchFamily="34" charset="0"/>
            </a:endParaRPr>
          </a:p>
        </p:txBody>
      </p:sp>
      <p:pic>
        <p:nvPicPr>
          <p:cNvPr id="22" name="Picture 21">
            <a:extLst>
              <a:ext uri="{FF2B5EF4-FFF2-40B4-BE49-F238E27FC236}">
                <a16:creationId xmlns:a16="http://schemas.microsoft.com/office/drawing/2014/main" id="{BC526B7A-4801-4FD1-95C8-03AF22629E8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2">
            <a:alphaModFix amt="1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34400" y="0"/>
            <a:ext cx="3654612" cy="4575348"/>
          </a:xfrm>
          <a:prstGeom prst="rect">
            <a:avLst/>
          </a:prstGeom>
        </p:spPr>
      </p:pic>
      <p:sp useBgFill="1">
        <p:nvSpPr>
          <p:cNvPr id="23" name="Rectangle 22">
            <a:extLst>
              <a:ext uri="{FF2B5EF4-FFF2-40B4-BE49-F238E27FC236}">
                <a16:creationId xmlns:a16="http://schemas.microsoft.com/office/drawing/2014/main" id="{310E06F9-9F12-4D1B-92C0-4B30818D093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>
                  <a:lumMod val="65000"/>
                  <a:lumOff val="35000"/>
                </a:schemeClr>
              </a:solidFill>
              <a:latin typeface="AvenirNext LT Pro Medium" panose="020B0504020202020204" pitchFamily="34" charset="0"/>
            </a:endParaRP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7DA29CF3-8B8B-4DDF-A19B-72E0059DD5D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8" y="0"/>
            <a:ext cx="12188952" cy="6858000"/>
          </a:xfrm>
          <a:prstGeom prst="rect">
            <a:avLst/>
          </a:prstGeom>
          <a:solidFill>
            <a:schemeClr val="bg2">
              <a:lumMod val="90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>
                  <a:lumMod val="65000"/>
                  <a:lumOff val="35000"/>
                </a:schemeClr>
              </a:solidFill>
              <a:latin typeface="AvenirNext LT Pro Medium" panose="020B0504020202020204" pitchFamily="34" charset="0"/>
            </a:endParaRPr>
          </a:p>
        </p:txBody>
      </p:sp>
      <p:grpSp>
        <p:nvGrpSpPr>
          <p:cNvPr id="25" name="Group 24">
            <a:extLst>
              <a:ext uri="{FF2B5EF4-FFF2-40B4-BE49-F238E27FC236}">
                <a16:creationId xmlns:a16="http://schemas.microsoft.com/office/drawing/2014/main" id="{7AFE7A50-2D5F-4DF3-B28D-A8F7E624D88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4464881" y="0"/>
            <a:ext cx="7724071" cy="6858000"/>
            <a:chOff x="4464881" y="0"/>
            <a:chExt cx="7724071" cy="6858000"/>
          </a:xfrm>
        </p:grpSpPr>
        <p:pic>
          <p:nvPicPr>
            <p:cNvPr id="18" name="Picture 17">
              <a:extLst>
                <a:ext uri="{FF2B5EF4-FFF2-40B4-BE49-F238E27FC236}">
                  <a16:creationId xmlns:a16="http://schemas.microsoft.com/office/drawing/2014/main" id="{326F236B-5DB7-4DCD-947A-8DDD0C76992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PicPr>
              <a:picLocks noChangeAspect="1"/>
            </p:cNvPic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PicPr>
          <p:blipFill>
            <a:blip r:embed="rId3">
              <a:duotone>
                <a:schemeClr val="accent6">
                  <a:shade val="45000"/>
                  <a:satMod val="135000"/>
                </a:schemeClr>
                <a:prstClr val="white"/>
              </a:duotone>
              <a:alphaModFix amt="15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073255" y="0"/>
              <a:ext cx="5115697" cy="6858000"/>
            </a:xfrm>
            <a:prstGeom prst="rect">
              <a:avLst/>
            </a:prstGeom>
          </p:spPr>
        </p:pic>
        <p:pic>
          <p:nvPicPr>
            <p:cNvPr id="19" name="Picture 18">
              <a:extLst>
                <a:ext uri="{FF2B5EF4-FFF2-40B4-BE49-F238E27FC236}">
                  <a16:creationId xmlns:a16="http://schemas.microsoft.com/office/drawing/2014/main" id="{6CC716D4-FE59-42BE-AA9B-254EF6C1BC8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PicPr>
              <a:picLocks noChangeAspect="1"/>
            </p:cNvPic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PicPr>
          <p:blipFill>
            <a:blip r:embed="rId4">
              <a:duotone>
                <a:schemeClr val="accent6">
                  <a:shade val="45000"/>
                  <a:satMod val="135000"/>
                </a:schemeClr>
                <a:prstClr val="white"/>
              </a:duotone>
              <a:alphaModFix amt="7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 rot="16200000">
              <a:off x="5412135" y="-947254"/>
              <a:ext cx="5562598" cy="7457106"/>
            </a:xfrm>
            <a:prstGeom prst="rect">
              <a:avLst/>
            </a:prstGeom>
            <a:effectLst>
              <a:softEdge rad="0"/>
            </a:effectLst>
          </p:spPr>
        </p:pic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4ED46531-FFF2-898C-3CC5-32A7C94650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8643" y="451723"/>
            <a:ext cx="7366686" cy="1240410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z="3200" dirty="0">
                <a:latin typeface="Aptos Black" panose="020B0004020202020204" pitchFamily="34" charset="0"/>
              </a:rPr>
              <a:t>What  Categories Dropped in Central and South Region?</a:t>
            </a:r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356A839B-5A5A-2B83-FF7A-AF55C3219DE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08835248"/>
              </p:ext>
            </p:extLst>
          </p:nvPr>
        </p:nvGraphicFramePr>
        <p:xfrm>
          <a:off x="4695568" y="2065624"/>
          <a:ext cx="7366686" cy="3779861"/>
        </p:xfrm>
        <a:graphic>
          <a:graphicData uri="http://schemas.openxmlformats.org/drawingml/2006/table">
            <a:tbl>
              <a:tblPr firstRow="1" bandRow="1">
                <a:noFill/>
                <a:tableStyleId>{B301B821-A1FF-4177-AEE7-76D212191A09}</a:tableStyleId>
              </a:tblPr>
              <a:tblGrid>
                <a:gridCol w="1687138">
                  <a:extLst>
                    <a:ext uri="{9D8B030D-6E8A-4147-A177-3AD203B41FA5}">
                      <a16:colId xmlns:a16="http://schemas.microsoft.com/office/drawing/2014/main" val="2603644009"/>
                    </a:ext>
                  </a:extLst>
                </a:gridCol>
                <a:gridCol w="1204343">
                  <a:extLst>
                    <a:ext uri="{9D8B030D-6E8A-4147-A177-3AD203B41FA5}">
                      <a16:colId xmlns:a16="http://schemas.microsoft.com/office/drawing/2014/main" val="1903622582"/>
                    </a:ext>
                  </a:extLst>
                </a:gridCol>
                <a:gridCol w="1474573">
                  <a:extLst>
                    <a:ext uri="{9D8B030D-6E8A-4147-A177-3AD203B41FA5}">
                      <a16:colId xmlns:a16="http://schemas.microsoft.com/office/drawing/2014/main" val="3880340914"/>
                    </a:ext>
                  </a:extLst>
                </a:gridCol>
                <a:gridCol w="1580745">
                  <a:extLst>
                    <a:ext uri="{9D8B030D-6E8A-4147-A177-3AD203B41FA5}">
                      <a16:colId xmlns:a16="http://schemas.microsoft.com/office/drawing/2014/main" val="3567815587"/>
                    </a:ext>
                  </a:extLst>
                </a:gridCol>
                <a:gridCol w="1419887">
                  <a:extLst>
                    <a:ext uri="{9D8B030D-6E8A-4147-A177-3AD203B41FA5}">
                      <a16:colId xmlns:a16="http://schemas.microsoft.com/office/drawing/2014/main" val="2936494331"/>
                    </a:ext>
                  </a:extLst>
                </a:gridCol>
              </a:tblGrid>
              <a:tr h="906110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2000" b="0" u="none" strike="noStrike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+mn-lt"/>
                          <a:cs typeface="AbdoMaster-Heavy" panose="02000500030000020004" pitchFamily="50" charset="-78"/>
                        </a:rPr>
                        <a:t>Category</a:t>
                      </a:r>
                      <a:endParaRPr lang="en-US" sz="2000" b="0" i="0" u="none" strike="noStrike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+mn-lt"/>
                        <a:cs typeface="AbdoMaster-Heavy" panose="02000500030000020004" pitchFamily="50" charset="-78"/>
                      </a:endParaRPr>
                    </a:p>
                  </a:txBody>
                  <a:tcPr marL="275748" marR="165449" marT="165449" marB="165449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9050" cap="flat" cmpd="sng" algn="ctr">
                      <a:solidFill>
                        <a:srgbClr val="8F9A9D">
                          <a:alpha val="60000"/>
                        </a:srgbClr>
                      </a:solidFill>
                      <a:prstDash val="solid"/>
                    </a:lnT>
                    <a:lnB w="12700" cmpd="sng">
                      <a:noFill/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2000" b="0" u="none" strike="noStrike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+mn-lt"/>
                          <a:cs typeface="AbdoMaster-Heavy" panose="02000500030000020004" pitchFamily="50" charset="-78"/>
                        </a:rPr>
                        <a:t>2016</a:t>
                      </a:r>
                      <a:endParaRPr lang="en-US" sz="2000" b="0" i="0" u="none" strike="noStrike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+mn-lt"/>
                        <a:cs typeface="AbdoMaster-Heavy" panose="02000500030000020004" pitchFamily="50" charset="-78"/>
                      </a:endParaRPr>
                    </a:p>
                  </a:txBody>
                  <a:tcPr marL="275748" marR="165449" marT="165449" marB="165449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9050" cap="flat" cmpd="sng" algn="ctr">
                      <a:solidFill>
                        <a:srgbClr val="8F9A9D">
                          <a:alpha val="60000"/>
                        </a:srgbClr>
                      </a:solidFill>
                      <a:prstDash val="solid"/>
                    </a:lnT>
                    <a:lnB w="12700" cmpd="sng">
                      <a:noFill/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2000" b="0" u="none" strike="noStrike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+mn-lt"/>
                          <a:cs typeface="AbdoMaster-Heavy" panose="02000500030000020004" pitchFamily="50" charset="-78"/>
                        </a:rPr>
                        <a:t>2017</a:t>
                      </a:r>
                      <a:endParaRPr lang="en-US" sz="2000" b="0" i="0" u="none" strike="noStrike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+mn-lt"/>
                        <a:cs typeface="AbdoMaster-Heavy" panose="02000500030000020004" pitchFamily="50" charset="-78"/>
                      </a:endParaRPr>
                    </a:p>
                  </a:txBody>
                  <a:tcPr marL="275748" marR="165449" marT="165449" marB="165449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9050" cap="flat" cmpd="sng" algn="ctr">
                      <a:solidFill>
                        <a:srgbClr val="8F9A9D">
                          <a:alpha val="60000"/>
                        </a:srgbClr>
                      </a:solidFill>
                      <a:prstDash val="solid"/>
                    </a:lnT>
                    <a:lnB w="12700" cmpd="sng">
                      <a:noFill/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buNone/>
                      </a:pPr>
                      <a:r>
                        <a:rPr lang="en-US" sz="2000" b="0" u="none" strike="noStrike" kern="12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+mn-lt"/>
                          <a:ea typeface="+mn-ea"/>
                          <a:cs typeface="AbdoMaster-Heavy" panose="02000500030000020004" pitchFamily="50" charset="-78"/>
                        </a:rPr>
                        <a:t>Growth rate </a:t>
                      </a:r>
                    </a:p>
                  </a:txBody>
                  <a:tcPr marL="7620" marR="7620" marT="7620" marB="0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9050" cap="flat" cmpd="sng" algn="ctr">
                      <a:solidFill>
                        <a:srgbClr val="8F9A9D">
                          <a:alpha val="60000"/>
                        </a:srgbClr>
                      </a:solidFill>
                      <a:prstDash val="solid"/>
                    </a:lnT>
                    <a:lnB w="12700" cmpd="sng">
                      <a:noFill/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buNone/>
                      </a:pPr>
                      <a:r>
                        <a:rPr lang="en-US" sz="2000" b="0" u="none" strike="noStrike" kern="12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+mn-lt"/>
                          <a:ea typeface="+mn-ea"/>
                          <a:cs typeface="AbdoMaster-Heavy" panose="02000500030000020004" pitchFamily="50" charset="-78"/>
                        </a:rPr>
                        <a:t>Profit Difference</a:t>
                      </a:r>
                    </a:p>
                  </a:txBody>
                  <a:tcPr marL="7620" marR="7620" marT="7620" marB="0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9050" cap="flat" cmpd="sng" algn="ctr">
                      <a:solidFill>
                        <a:srgbClr val="8F9A9D">
                          <a:alpha val="60000"/>
                        </a:srgbClr>
                      </a:solidFill>
                      <a:prstDash val="solid"/>
                    </a:lnT>
                    <a:lnB w="12700" cmpd="sng">
                      <a:noFill/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87749086"/>
                  </a:ext>
                </a:extLst>
              </a:tr>
              <a:tr h="755091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700" b="0" u="none" strike="noStrike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</a:rPr>
                        <a:t>Furniture</a:t>
                      </a:r>
                      <a:endParaRPr lang="en-US" sz="1700" b="0" i="0" u="none" strike="noStrike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275748" marR="143389" marT="143389" marB="143389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B4BCBE">
                        <a:alpha val="34902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6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2.89K</a:t>
                      </a:r>
                    </a:p>
                  </a:txBody>
                  <a:tcPr marL="7620" marR="7620" marT="7620" marB="0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B4BCBE">
                        <a:alpha val="34902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6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-1.87K</a:t>
                      </a:r>
                    </a:p>
                  </a:txBody>
                  <a:tcPr marL="7620" marR="7620" marT="7620" marB="0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B4BCBE">
                        <a:alpha val="34902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buNone/>
                      </a:pPr>
                      <a:r>
                        <a:rPr lang="en-US" sz="1600" b="1" i="0" u="none" strike="noStrike" kern="12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+mn-cs"/>
                        </a:rPr>
                        <a:t>-164%</a:t>
                      </a:r>
                    </a:p>
                  </a:txBody>
                  <a:tcPr marL="7620" marR="7620" marT="7620" marB="0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BCBE">
                        <a:alpha val="34902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buNone/>
                      </a:pPr>
                      <a:r>
                        <a:rPr lang="en-US" sz="1600" b="1" i="0" u="none" strike="noStrike" kern="12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+mn-cs"/>
                        </a:rPr>
                        <a:t>-4.76K</a:t>
                      </a:r>
                    </a:p>
                  </a:txBody>
                  <a:tcPr marL="7620" marR="7620" marT="7620" marB="0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BCBE">
                        <a:alpha val="34902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31662571"/>
                  </a:ext>
                </a:extLst>
              </a:tr>
              <a:tr h="1085444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700" b="0" u="none" strike="noStrike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</a:rPr>
                        <a:t>Office Supplies</a:t>
                      </a:r>
                      <a:endParaRPr lang="en-US" sz="1700" b="0" i="0" u="none" strike="noStrike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275748" marR="143389" marT="143389" marB="143389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B4BCBE">
                        <a:alpha val="34902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6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11.72K</a:t>
                      </a:r>
                    </a:p>
                  </a:txBody>
                  <a:tcPr marL="7620" marR="7620" marT="7620" marB="0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B4BCBE">
                        <a:alpha val="34902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6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5.87K</a:t>
                      </a:r>
                    </a:p>
                  </a:txBody>
                  <a:tcPr marL="7620" marR="7620" marT="7620" marB="0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B4BCBE">
                        <a:alpha val="34902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buNone/>
                      </a:pPr>
                      <a:r>
                        <a:rPr lang="en-US" sz="1600" b="1" i="0" u="none" strike="noStrike" kern="12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+mn-cs"/>
                        </a:rPr>
                        <a:t>-50%</a:t>
                      </a:r>
                    </a:p>
                  </a:txBody>
                  <a:tcPr marL="7620" marR="7620" marT="7620" marB="0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BCBE">
                        <a:alpha val="34902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buNone/>
                      </a:pPr>
                      <a:r>
                        <a:rPr lang="en-US" sz="1600" b="1" i="0" u="none" strike="noStrike" kern="12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+mn-cs"/>
                        </a:rPr>
                        <a:t>-5.85K</a:t>
                      </a:r>
                    </a:p>
                  </a:txBody>
                  <a:tcPr marL="7620" marR="7620" marT="7620" marB="0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BCBE">
                        <a:alpha val="34902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89248493"/>
                  </a:ext>
                </a:extLst>
              </a:tr>
              <a:tr h="1033216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700" b="0" u="none" strike="noStrike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</a:rPr>
                        <a:t>Technology</a:t>
                      </a:r>
                      <a:endParaRPr lang="en-US" sz="1700" b="0" i="0" u="none" strike="noStrike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275748" marR="143389" marT="143389" marB="143389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rgbClr val="B4BCBE">
                        <a:alpha val="34902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6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22.99K</a:t>
                      </a:r>
                    </a:p>
                  </a:txBody>
                  <a:tcPr marL="7620" marR="7620" marT="7620" marB="0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rgbClr val="B4BCBE">
                        <a:alpha val="34902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6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12.40K</a:t>
                      </a:r>
                    </a:p>
                  </a:txBody>
                  <a:tcPr marL="7620" marR="7620" marT="7620" marB="0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rgbClr val="B4BCBE">
                        <a:alpha val="34902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buNone/>
                      </a:pPr>
                      <a:r>
                        <a:rPr lang="en-US" sz="1600" b="1" i="0" u="none" strike="noStrike" kern="120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+mn-cs"/>
                        </a:rPr>
                        <a:t>-46%</a:t>
                      </a:r>
                    </a:p>
                  </a:txBody>
                  <a:tcPr marL="7620" marR="7620" marT="7620" marB="0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  <a:prstDash val="solid"/>
                    </a:lnB>
                    <a:solidFill>
                      <a:srgbClr val="B4BCBE">
                        <a:alpha val="34902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buNone/>
                      </a:pPr>
                      <a:r>
                        <a:rPr lang="en-US" sz="1600" b="1" i="0" u="none" strike="noStrike" kern="12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+mn-cs"/>
                        </a:rPr>
                        <a:t>-10.59K</a:t>
                      </a:r>
                    </a:p>
                  </a:txBody>
                  <a:tcPr marL="7620" marR="7620" marT="7620" marB="0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  <a:prstDash val="solid"/>
                    </a:lnB>
                    <a:solidFill>
                      <a:srgbClr val="B4BCBE">
                        <a:alpha val="34902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46810312"/>
                  </a:ext>
                </a:extLst>
              </a:tr>
            </a:tbl>
          </a:graphicData>
        </a:graphic>
      </p:graphicFrame>
      <p:graphicFrame>
        <p:nvGraphicFramePr>
          <p:cNvPr id="5" name="Chart 4">
            <a:extLst>
              <a:ext uri="{FF2B5EF4-FFF2-40B4-BE49-F238E27FC236}">
                <a16:creationId xmlns:a16="http://schemas.microsoft.com/office/drawing/2014/main" id="{1FE066F3-4C0D-6E64-C93F-5144AE5C4EAD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978120700"/>
              </p:ext>
            </p:extLst>
          </p:nvPr>
        </p:nvGraphicFramePr>
        <p:xfrm>
          <a:off x="87215" y="1675079"/>
          <a:ext cx="4425555" cy="4170406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</p:spTree>
    <p:extLst>
      <p:ext uri="{BB962C8B-B14F-4D97-AF65-F5344CB8AC3E}">
        <p14:creationId xmlns:p14="http://schemas.microsoft.com/office/powerpoint/2010/main" val="347230029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89C8287-0AB2-C1AE-04C1-63DA5E2A9CB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Rectangle 46">
            <a:extLst>
              <a:ext uri="{FF2B5EF4-FFF2-40B4-BE49-F238E27FC236}">
                <a16:creationId xmlns:a16="http://schemas.microsoft.com/office/drawing/2014/main" id="{0BABF38A-8A0D-492E-BD20-6CF4D46B50B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4"/>
          </a:xfrm>
          <a:prstGeom prst="rect">
            <a:avLst/>
          </a:prstGeom>
          <a:solidFill>
            <a:schemeClr val="bg2">
              <a:lumMod val="90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>
                  <a:lumMod val="65000"/>
                  <a:lumOff val="35000"/>
                </a:schemeClr>
              </a:solidFill>
              <a:latin typeface="AvenirNext LT Pro Medium" panose="020B0504020202020204" pitchFamily="34" charset="0"/>
            </a:endParaRPr>
          </a:p>
        </p:txBody>
      </p:sp>
      <p:pic>
        <p:nvPicPr>
          <p:cNvPr id="49" name="Picture 48">
            <a:extLst>
              <a:ext uri="{FF2B5EF4-FFF2-40B4-BE49-F238E27FC236}">
                <a16:creationId xmlns:a16="http://schemas.microsoft.com/office/drawing/2014/main" id="{BC526B7A-4801-4FD1-95C8-03AF22629E8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2">
            <a:alphaModFix amt="1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34400" y="0"/>
            <a:ext cx="3654612" cy="4575348"/>
          </a:xfrm>
          <a:prstGeom prst="rect">
            <a:avLst/>
          </a:prstGeom>
        </p:spPr>
      </p:pic>
      <p:sp useBgFill="1">
        <p:nvSpPr>
          <p:cNvPr id="51" name="Rectangle 50">
            <a:extLst>
              <a:ext uri="{FF2B5EF4-FFF2-40B4-BE49-F238E27FC236}">
                <a16:creationId xmlns:a16="http://schemas.microsoft.com/office/drawing/2014/main" id="{310E06F9-9F12-4D1B-92C0-4B30818D093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>
                  <a:lumMod val="65000"/>
                  <a:lumOff val="35000"/>
                </a:schemeClr>
              </a:solidFill>
              <a:latin typeface="AvenirNext LT Pro Medium" panose="020B0504020202020204" pitchFamily="34" charset="0"/>
            </a:endParaRPr>
          </a:p>
        </p:txBody>
      </p:sp>
      <p:sp>
        <p:nvSpPr>
          <p:cNvPr id="53" name="Rectangle 52">
            <a:extLst>
              <a:ext uri="{FF2B5EF4-FFF2-40B4-BE49-F238E27FC236}">
                <a16:creationId xmlns:a16="http://schemas.microsoft.com/office/drawing/2014/main" id="{7DA29CF3-8B8B-4DDF-A19B-72E0059DD5D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8" y="0"/>
            <a:ext cx="12188952" cy="6858000"/>
          </a:xfrm>
          <a:prstGeom prst="rect">
            <a:avLst/>
          </a:prstGeom>
          <a:solidFill>
            <a:schemeClr val="bg2">
              <a:lumMod val="90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>
                  <a:lumMod val="65000"/>
                  <a:lumOff val="35000"/>
                </a:schemeClr>
              </a:solidFill>
              <a:latin typeface="AvenirNext LT Pro Medium" panose="020B0504020202020204" pitchFamily="34" charset="0"/>
            </a:endParaRPr>
          </a:p>
        </p:txBody>
      </p:sp>
      <p:grpSp>
        <p:nvGrpSpPr>
          <p:cNvPr id="55" name="Group 54">
            <a:extLst>
              <a:ext uri="{FF2B5EF4-FFF2-40B4-BE49-F238E27FC236}">
                <a16:creationId xmlns:a16="http://schemas.microsoft.com/office/drawing/2014/main" id="{7AFE7A50-2D5F-4DF3-B28D-A8F7E624D88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4464881" y="0"/>
            <a:ext cx="7724071" cy="6858000"/>
            <a:chOff x="4464881" y="0"/>
            <a:chExt cx="7724071" cy="6858000"/>
          </a:xfrm>
        </p:grpSpPr>
        <p:pic>
          <p:nvPicPr>
            <p:cNvPr id="56" name="Picture 55">
              <a:extLst>
                <a:ext uri="{FF2B5EF4-FFF2-40B4-BE49-F238E27FC236}">
                  <a16:creationId xmlns:a16="http://schemas.microsoft.com/office/drawing/2014/main" id="{326F236B-5DB7-4DCD-947A-8DDD0C76992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PicPr>
              <a:picLocks noChangeAspect="1"/>
            </p:cNvPic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PicPr>
          <p:blipFill>
            <a:blip r:embed="rId3">
              <a:duotone>
                <a:schemeClr val="accent6">
                  <a:shade val="45000"/>
                  <a:satMod val="135000"/>
                </a:schemeClr>
                <a:prstClr val="white"/>
              </a:duotone>
              <a:alphaModFix amt="15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073255" y="0"/>
              <a:ext cx="5115697" cy="6858000"/>
            </a:xfrm>
            <a:prstGeom prst="rect">
              <a:avLst/>
            </a:prstGeom>
          </p:spPr>
        </p:pic>
        <p:pic>
          <p:nvPicPr>
            <p:cNvPr id="57" name="Picture 56">
              <a:extLst>
                <a:ext uri="{FF2B5EF4-FFF2-40B4-BE49-F238E27FC236}">
                  <a16:creationId xmlns:a16="http://schemas.microsoft.com/office/drawing/2014/main" id="{6CC716D4-FE59-42BE-AA9B-254EF6C1BC8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PicPr>
              <a:picLocks noChangeAspect="1"/>
            </p:cNvPic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PicPr>
          <p:blipFill>
            <a:blip r:embed="rId4">
              <a:duotone>
                <a:schemeClr val="accent6">
                  <a:shade val="45000"/>
                  <a:satMod val="135000"/>
                </a:schemeClr>
                <a:prstClr val="white"/>
              </a:duotone>
              <a:alphaModFix amt="7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 rot="16200000">
              <a:off x="5412135" y="-947254"/>
              <a:ext cx="5562598" cy="7457106"/>
            </a:xfrm>
            <a:prstGeom prst="rect">
              <a:avLst/>
            </a:prstGeom>
            <a:effectLst>
              <a:softEdge rad="0"/>
            </a:effectLst>
          </p:spPr>
        </p:pic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4721C15B-157E-A6FF-2CDC-968FC7A4A7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0013" y="607497"/>
            <a:ext cx="9134986" cy="1044758"/>
          </a:xfrm>
        </p:spPr>
        <p:txBody>
          <a:bodyPr vert="horz" lIns="91440" tIns="45720" rIns="91440" bIns="45720" rtlCol="0" anchor="t">
            <a:normAutofit/>
          </a:bodyPr>
          <a:lstStyle/>
          <a:p>
            <a:pPr>
              <a:lnSpc>
                <a:spcPct val="90000"/>
              </a:lnSpc>
            </a:pPr>
            <a:r>
              <a:rPr lang="en-US" sz="3200" dirty="0">
                <a:latin typeface="Aptos Black" panose="020B0004020202020204" pitchFamily="34" charset="0"/>
              </a:rPr>
              <a:t>What Tech Sub-Category Dropped in Central and South Region?</a:t>
            </a: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ECE889AC-D7FC-592B-92B0-771D0C8A97A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31110266"/>
              </p:ext>
            </p:extLst>
          </p:nvPr>
        </p:nvGraphicFramePr>
        <p:xfrm>
          <a:off x="6186616" y="2039618"/>
          <a:ext cx="5681213" cy="2622998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1221086">
                  <a:extLst>
                    <a:ext uri="{9D8B030D-6E8A-4147-A177-3AD203B41FA5}">
                      <a16:colId xmlns:a16="http://schemas.microsoft.com/office/drawing/2014/main" val="4120973680"/>
                    </a:ext>
                  </a:extLst>
                </a:gridCol>
                <a:gridCol w="1486709">
                  <a:extLst>
                    <a:ext uri="{9D8B030D-6E8A-4147-A177-3AD203B41FA5}">
                      <a16:colId xmlns:a16="http://schemas.microsoft.com/office/drawing/2014/main" val="3898959732"/>
                    </a:ext>
                  </a:extLst>
                </a:gridCol>
                <a:gridCol w="1486709">
                  <a:extLst>
                    <a:ext uri="{9D8B030D-6E8A-4147-A177-3AD203B41FA5}">
                      <a16:colId xmlns:a16="http://schemas.microsoft.com/office/drawing/2014/main" val="2308346547"/>
                    </a:ext>
                  </a:extLst>
                </a:gridCol>
                <a:gridCol w="1486709">
                  <a:extLst>
                    <a:ext uri="{9D8B030D-6E8A-4147-A177-3AD203B41FA5}">
                      <a16:colId xmlns:a16="http://schemas.microsoft.com/office/drawing/2014/main" val="3975662415"/>
                    </a:ext>
                  </a:extLst>
                </a:gridCol>
              </a:tblGrid>
              <a:tr h="879966">
                <a:tc>
                  <a:txBody>
                    <a:bodyPr/>
                    <a:lstStyle/>
                    <a:p>
                      <a:pPr algn="l"/>
                      <a:r>
                        <a:rPr lang="en-US" dirty="0"/>
                        <a:t>Sub-Category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dirty="0"/>
                        <a:t>2016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dirty="0"/>
                        <a:t>2017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dirty="0"/>
                        <a:t>Growth rate 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120217920"/>
                  </a:ext>
                </a:extLst>
              </a:tr>
              <a:tr h="871516">
                <a:tc>
                  <a:txBody>
                    <a:bodyPr/>
                    <a:lstStyle/>
                    <a:p>
                      <a:pPr algn="l"/>
                      <a:r>
                        <a:rPr lang="en-US" sz="2000" dirty="0"/>
                        <a:t>Copiers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dirty="0"/>
                        <a:t>9.27K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dirty="0"/>
                        <a:t>3.4K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dirty="0"/>
                        <a:t>-63%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884553893"/>
                  </a:ext>
                </a:extLst>
              </a:tr>
              <a:tr h="871516">
                <a:tc>
                  <a:txBody>
                    <a:bodyPr/>
                    <a:lstStyle/>
                    <a:p>
                      <a:pPr algn="l"/>
                      <a:r>
                        <a:rPr lang="en-US" dirty="0"/>
                        <a:t>Machines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dirty="0"/>
                        <a:t>4.37K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dirty="0"/>
                        <a:t>-3.4K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dirty="0"/>
                        <a:t>-174%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618966156"/>
                  </a:ext>
                </a:extLst>
              </a:tr>
            </a:tbl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689C76CF-8F9A-58D8-E506-FB5CFAF3FB03}"/>
              </a:ext>
            </a:extLst>
          </p:cNvPr>
          <p:cNvSpPr txBox="1"/>
          <p:nvPr/>
        </p:nvSpPr>
        <p:spPr>
          <a:xfrm>
            <a:off x="288323" y="2117126"/>
            <a:ext cx="5313406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/>
              <a:t>Machines shifted from +4.37K profit to -3.24K, representing the largest deterioration within the Technology category.</a:t>
            </a:r>
          </a:p>
        </p:txBody>
      </p:sp>
    </p:spTree>
    <p:extLst>
      <p:ext uri="{BB962C8B-B14F-4D97-AF65-F5344CB8AC3E}">
        <p14:creationId xmlns:p14="http://schemas.microsoft.com/office/powerpoint/2010/main" val="403863815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Rectangle 21">
            <a:extLst>
              <a:ext uri="{FF2B5EF4-FFF2-40B4-BE49-F238E27FC236}">
                <a16:creationId xmlns:a16="http://schemas.microsoft.com/office/drawing/2014/main" id="{0BABF38A-8A0D-492E-BD20-6CF4D46B50B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4"/>
          </a:xfrm>
          <a:prstGeom prst="rect">
            <a:avLst/>
          </a:prstGeom>
          <a:solidFill>
            <a:schemeClr val="bg2">
              <a:lumMod val="90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>
                  <a:lumMod val="65000"/>
                  <a:lumOff val="35000"/>
                </a:schemeClr>
              </a:solidFill>
              <a:latin typeface="AvenirNext LT Pro Medium" panose="020B0504020202020204" pitchFamily="34" charset="0"/>
            </a:endParaRPr>
          </a:p>
        </p:txBody>
      </p:sp>
      <p:pic>
        <p:nvPicPr>
          <p:cNvPr id="24" name="Picture 23">
            <a:extLst>
              <a:ext uri="{FF2B5EF4-FFF2-40B4-BE49-F238E27FC236}">
                <a16:creationId xmlns:a16="http://schemas.microsoft.com/office/drawing/2014/main" id="{BC526B7A-4801-4FD1-95C8-03AF22629E8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2">
            <a:alphaModFix amt="1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34400" y="0"/>
            <a:ext cx="3654612" cy="4575348"/>
          </a:xfrm>
          <a:prstGeom prst="rect">
            <a:avLst/>
          </a:prstGeom>
        </p:spPr>
      </p:pic>
      <p:sp useBgFill="1">
        <p:nvSpPr>
          <p:cNvPr id="26" name="Rectangle 25">
            <a:extLst>
              <a:ext uri="{FF2B5EF4-FFF2-40B4-BE49-F238E27FC236}">
                <a16:creationId xmlns:a16="http://schemas.microsoft.com/office/drawing/2014/main" id="{310E06F9-9F12-4D1B-92C0-4B30818D093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>
                  <a:lumMod val="65000"/>
                  <a:lumOff val="35000"/>
                </a:schemeClr>
              </a:solidFill>
              <a:latin typeface="AvenirNext LT Pro Medium" panose="020B0504020202020204" pitchFamily="34" charset="0"/>
            </a:endParaRP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8F5EFE88-F6A7-4B53-AF99-227DFC56A03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8" y="0"/>
            <a:ext cx="12188952" cy="6858000"/>
          </a:xfrm>
          <a:prstGeom prst="rect">
            <a:avLst/>
          </a:prstGeom>
          <a:solidFill>
            <a:schemeClr val="bg2">
              <a:lumMod val="90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>
                  <a:lumMod val="65000"/>
                  <a:lumOff val="35000"/>
                </a:schemeClr>
              </a:solidFill>
              <a:latin typeface="AvenirNext LT Pro Medium" panose="020B0504020202020204" pitchFamily="34" charset="0"/>
            </a:endParaRPr>
          </a:p>
        </p:txBody>
      </p:sp>
      <p:grpSp>
        <p:nvGrpSpPr>
          <p:cNvPr id="30" name="Group 29">
            <a:extLst>
              <a:ext uri="{FF2B5EF4-FFF2-40B4-BE49-F238E27FC236}">
                <a16:creationId xmlns:a16="http://schemas.microsoft.com/office/drawing/2014/main" id="{BD08D52E-56C9-4654-9764-ADE6C0F0E30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4464881" y="0"/>
            <a:ext cx="7724071" cy="6858000"/>
            <a:chOff x="4464881" y="0"/>
            <a:chExt cx="7724071" cy="6858000"/>
          </a:xfrm>
        </p:grpSpPr>
        <p:pic>
          <p:nvPicPr>
            <p:cNvPr id="31" name="Picture 30">
              <a:extLst>
                <a:ext uri="{FF2B5EF4-FFF2-40B4-BE49-F238E27FC236}">
                  <a16:creationId xmlns:a16="http://schemas.microsoft.com/office/drawing/2014/main" id="{74CC9B0D-E068-488B-A88F-E69A1B690BA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PicPr>
              <a:picLocks noChangeAspect="1"/>
            </p:cNvPic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PicPr>
          <p:blipFill>
            <a:blip r:embed="rId3">
              <a:duotone>
                <a:schemeClr val="accent6">
                  <a:shade val="45000"/>
                  <a:satMod val="135000"/>
                </a:schemeClr>
                <a:prstClr val="white"/>
              </a:duotone>
              <a:alphaModFix amt="15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073255" y="0"/>
              <a:ext cx="5115697" cy="6858000"/>
            </a:xfrm>
            <a:prstGeom prst="rect">
              <a:avLst/>
            </a:prstGeom>
          </p:spPr>
        </p:pic>
        <p:pic>
          <p:nvPicPr>
            <p:cNvPr id="32" name="Picture 31">
              <a:extLst>
                <a:ext uri="{FF2B5EF4-FFF2-40B4-BE49-F238E27FC236}">
                  <a16:creationId xmlns:a16="http://schemas.microsoft.com/office/drawing/2014/main" id="{06E2E1E2-C875-4AF6-A6C4-67E7EA04892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PicPr>
              <a:picLocks noChangeAspect="1"/>
            </p:cNvPic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PicPr>
          <p:blipFill>
            <a:blip r:embed="rId4">
              <a:duotone>
                <a:schemeClr val="accent6">
                  <a:shade val="45000"/>
                  <a:satMod val="135000"/>
                </a:schemeClr>
                <a:prstClr val="white"/>
              </a:duotone>
              <a:alphaModFix amt="7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 rot="16200000">
              <a:off x="5412135" y="-947254"/>
              <a:ext cx="5562598" cy="7457106"/>
            </a:xfrm>
            <a:prstGeom prst="rect">
              <a:avLst/>
            </a:prstGeom>
            <a:effectLst>
              <a:softEdge rad="0"/>
            </a:effectLst>
          </p:spPr>
        </p:pic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FABD9775-23AA-1F66-67FE-4C8B3109190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0013" y="423634"/>
            <a:ext cx="10463890" cy="1314550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z="2800" dirty="0">
                <a:latin typeface="Aptos Black" panose="020B0004020202020204" pitchFamily="34" charset="0"/>
              </a:rPr>
              <a:t>Canon </a:t>
            </a:r>
            <a:r>
              <a:rPr lang="en-US" sz="2800" dirty="0" err="1">
                <a:latin typeface="Aptos Black" panose="020B0004020202020204" pitchFamily="34" charset="0"/>
              </a:rPr>
              <a:t>imageCLASS</a:t>
            </a:r>
            <a:r>
              <a:rPr lang="en-US" sz="2800" dirty="0">
                <a:latin typeface="Aptos Black" panose="020B0004020202020204" pitchFamily="34" charset="0"/>
              </a:rPr>
              <a:t> 2200 Was the Biggest Contributor to the Profit Drop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1C2EF26-21A6-DE0F-5B58-1EA1E606C83A}"/>
              </a:ext>
            </a:extLst>
          </p:cNvPr>
          <p:cNvSpPr txBox="1"/>
          <p:nvPr/>
        </p:nvSpPr>
        <p:spPr>
          <a:xfrm>
            <a:off x="269983" y="3929061"/>
            <a:ext cx="5115697" cy="1633538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pPr>
              <a:lnSpc>
                <a:spcPct val="110000"/>
              </a:lnSpc>
              <a:spcBef>
                <a:spcPts val="1000"/>
              </a:spcBef>
              <a:buClr>
                <a:schemeClr val="accent1"/>
              </a:buClr>
            </a:pPr>
            <a:r>
              <a:rPr lang="en-US" sz="2200" b="1" dirty="0"/>
              <a:t>Product ID</a:t>
            </a:r>
            <a:r>
              <a:rPr lang="en-US" sz="2200" dirty="0"/>
              <a:t>: TEC-CO-10004722</a:t>
            </a:r>
            <a:br>
              <a:rPr lang="en-US" sz="2200" dirty="0"/>
            </a:br>
            <a:r>
              <a:rPr lang="en-US" sz="2200" b="1" dirty="0"/>
              <a:t>Product Name</a:t>
            </a:r>
            <a:r>
              <a:rPr lang="en-US" sz="2200" dirty="0"/>
              <a:t>: Canon </a:t>
            </a:r>
            <a:r>
              <a:rPr lang="en-US" sz="2200" dirty="0" err="1"/>
              <a:t>imageCLASS</a:t>
            </a:r>
            <a:r>
              <a:rPr lang="en-US" sz="2200" dirty="0"/>
              <a:t> 2200 Advanced Copier </a:t>
            </a: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47DB89F2-35D0-7B35-2014-6478995A43E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8452491"/>
              </p:ext>
            </p:extLst>
          </p:nvPr>
        </p:nvGraphicFramePr>
        <p:xfrm>
          <a:off x="5694744" y="2287674"/>
          <a:ext cx="6357213" cy="3478812"/>
        </p:xfrm>
        <a:graphic>
          <a:graphicData uri="http://schemas.openxmlformats.org/drawingml/2006/table">
            <a:tbl>
              <a:tblPr>
                <a:tableStyleId>{5FD0F851-EC5A-4D38-B0AD-8093EC10F338}</a:tableStyleId>
              </a:tblPr>
              <a:tblGrid>
                <a:gridCol w="1845327">
                  <a:extLst>
                    <a:ext uri="{9D8B030D-6E8A-4147-A177-3AD203B41FA5}">
                      <a16:colId xmlns:a16="http://schemas.microsoft.com/office/drawing/2014/main" val="3136176507"/>
                    </a:ext>
                  </a:extLst>
                </a:gridCol>
                <a:gridCol w="1134400">
                  <a:extLst>
                    <a:ext uri="{9D8B030D-6E8A-4147-A177-3AD203B41FA5}">
                      <a16:colId xmlns:a16="http://schemas.microsoft.com/office/drawing/2014/main" val="292214495"/>
                    </a:ext>
                  </a:extLst>
                </a:gridCol>
                <a:gridCol w="920141">
                  <a:extLst>
                    <a:ext uri="{9D8B030D-6E8A-4147-A177-3AD203B41FA5}">
                      <a16:colId xmlns:a16="http://schemas.microsoft.com/office/drawing/2014/main" val="689851779"/>
                    </a:ext>
                  </a:extLst>
                </a:gridCol>
                <a:gridCol w="826424">
                  <a:extLst>
                    <a:ext uri="{9D8B030D-6E8A-4147-A177-3AD203B41FA5}">
                      <a16:colId xmlns:a16="http://schemas.microsoft.com/office/drawing/2014/main" val="1295485270"/>
                    </a:ext>
                  </a:extLst>
                </a:gridCol>
                <a:gridCol w="1630921">
                  <a:extLst>
                    <a:ext uri="{9D8B030D-6E8A-4147-A177-3AD203B41FA5}">
                      <a16:colId xmlns:a16="http://schemas.microsoft.com/office/drawing/2014/main" val="4008324717"/>
                    </a:ext>
                  </a:extLst>
                </a:gridCol>
              </a:tblGrid>
              <a:tr h="683174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600" b="1" u="none" strike="noStrike" dirty="0">
                          <a:solidFill>
                            <a:schemeClr val="bg1"/>
                          </a:solidFill>
                          <a:effectLst/>
                        </a:rPr>
                        <a:t>Product Id</a:t>
                      </a:r>
                      <a:endParaRPr lang="en-US" sz="1600" b="1" i="0" u="none" strike="noStrike" dirty="0">
                        <a:solidFill>
                          <a:schemeClr val="bg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600" b="1" u="none" strike="noStrike" dirty="0">
                          <a:solidFill>
                            <a:schemeClr val="bg1"/>
                          </a:solidFill>
                          <a:effectLst/>
                        </a:rPr>
                        <a:t>2016</a:t>
                      </a:r>
                      <a:endParaRPr lang="en-US" sz="1600" b="1" i="0" u="none" strike="noStrike" dirty="0">
                        <a:solidFill>
                          <a:schemeClr val="bg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600" b="1" u="none" strike="noStrike" dirty="0">
                          <a:solidFill>
                            <a:schemeClr val="bg1"/>
                          </a:solidFill>
                          <a:effectLst/>
                        </a:rPr>
                        <a:t>2017</a:t>
                      </a:r>
                      <a:endParaRPr lang="en-US" sz="1600" b="1" i="0" u="none" strike="noStrike" dirty="0">
                        <a:solidFill>
                          <a:schemeClr val="bg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600" b="1" u="none" strike="noStrike" dirty="0">
                          <a:solidFill>
                            <a:schemeClr val="bg1"/>
                          </a:solidFill>
                          <a:effectLst/>
                        </a:rPr>
                        <a:t>Growth rate </a:t>
                      </a:r>
                      <a:endParaRPr lang="en-US" sz="1600" b="1" i="0" u="none" strike="noStrike" dirty="0">
                        <a:solidFill>
                          <a:schemeClr val="bg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600" b="1" dirty="0">
                          <a:solidFill>
                            <a:schemeClr val="bg1"/>
                          </a:solidFill>
                        </a:rPr>
                        <a:t>P</a:t>
                      </a:r>
                      <a:r>
                        <a:rPr lang="en-US" sz="1600" b="1" u="none" strike="noStrike" kern="1200" dirty="0">
                          <a:solidFill>
                            <a:schemeClr val="bg1"/>
                          </a:solidFill>
                          <a:effectLst/>
                        </a:rPr>
                        <a:t>rofit Difference</a:t>
                      </a:r>
                      <a:endParaRPr lang="en-US" sz="1600" b="1" u="none" strike="noStrike" kern="1200" dirty="0">
                        <a:solidFill>
                          <a:schemeClr val="bg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85809002"/>
                  </a:ext>
                </a:extLst>
              </a:tr>
              <a:tr h="664962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400" b="1" u="none" strike="noStrike" dirty="0">
                          <a:solidFill>
                            <a:schemeClr val="bg1"/>
                          </a:solidFill>
                          <a:effectLst/>
                        </a:rPr>
                        <a:t>TEC-CO-10004722</a:t>
                      </a:r>
                      <a:endParaRPr lang="en-US" sz="1400" b="1" i="0" u="none" strike="noStrike" dirty="0">
                        <a:solidFill>
                          <a:schemeClr val="bg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620" marR="7620" marT="7620" marB="0" anchor="ctr"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600" b="1" i="0" u="none" strike="noStrike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</a:rPr>
                        <a:t>8.40K</a:t>
                      </a:r>
                    </a:p>
                  </a:txBody>
                  <a:tcPr marL="7620" marR="7620" marT="7620" marB="0" anchor="ctr"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600" b="1" i="0" u="none" strike="noStrike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</a:rPr>
                        <a:t>0</a:t>
                      </a:r>
                    </a:p>
                  </a:txBody>
                  <a:tcPr marL="7620" marR="7620" marT="7620" marB="0" anchor="ctr"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600" b="1" u="none" strike="noStrike" dirty="0">
                          <a:solidFill>
                            <a:schemeClr val="bg1"/>
                          </a:solidFill>
                          <a:effectLst/>
                        </a:rPr>
                        <a:t>-100%</a:t>
                      </a:r>
                      <a:endParaRPr lang="en-US" sz="1600" b="1" i="0" u="none" strike="noStrike" dirty="0">
                        <a:solidFill>
                          <a:schemeClr val="bg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620" marR="7620" marT="7620" marB="0" anchor="ctr"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600" b="1" u="none" strike="noStrike" dirty="0">
                          <a:solidFill>
                            <a:schemeClr val="bg1"/>
                          </a:solidFill>
                          <a:effectLst/>
                        </a:rPr>
                        <a:t>-8.4k</a:t>
                      </a:r>
                      <a:endParaRPr lang="en-US" sz="1600" b="1" i="0" u="none" strike="noStrike" dirty="0">
                        <a:solidFill>
                          <a:schemeClr val="bg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620" marR="7620" marT="7620" marB="0" anchor="ctr"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rgbClr val="FF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95771700"/>
                  </a:ext>
                </a:extLst>
              </a:tr>
              <a:tr h="532669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400" u="none" strike="noStrike" dirty="0">
                          <a:effectLst/>
                        </a:rPr>
                        <a:t>TEC-MA-10001127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2.80K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0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400" u="none" strike="noStrike" dirty="0">
                          <a:effectLst/>
                        </a:rPr>
                        <a:t>-100%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400" u="none" strike="noStrike" dirty="0">
                          <a:effectLst/>
                        </a:rPr>
                        <a:t>-2.8 k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620" marR="7620" marT="7620" marB="0" anchor="ctr"/>
                </a:tc>
                <a:extLst>
                  <a:ext uri="{0D108BD9-81ED-4DB2-BD59-A6C34878D82A}">
                    <a16:rowId xmlns:a16="http://schemas.microsoft.com/office/drawing/2014/main" val="1296149709"/>
                  </a:ext>
                </a:extLst>
              </a:tr>
              <a:tr h="532669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400" u="none" strike="noStrike" dirty="0">
                          <a:effectLst/>
                        </a:rPr>
                        <a:t>TEC-MA-10000010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1.46K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0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400" u="none" strike="noStrike" dirty="0">
                          <a:effectLst/>
                        </a:rPr>
                        <a:t>-100%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400" u="none" strike="noStrike" dirty="0">
                          <a:effectLst/>
                        </a:rPr>
                        <a:t>-1.4 k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620" marR="7620" marT="7620" marB="0" anchor="ctr"/>
                </a:tc>
                <a:extLst>
                  <a:ext uri="{0D108BD9-81ED-4DB2-BD59-A6C34878D82A}">
                    <a16:rowId xmlns:a16="http://schemas.microsoft.com/office/drawing/2014/main" val="1080266030"/>
                  </a:ext>
                </a:extLst>
              </a:tr>
              <a:tr h="532669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400" u="none" strike="noStrike" dirty="0">
                          <a:effectLst/>
                        </a:rPr>
                        <a:t>TEC-CO-10001943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0.75K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400" u="none" strike="noStrike" dirty="0">
                          <a:effectLst/>
                        </a:rPr>
                        <a:t>107.99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400" u="none" strike="noStrike" dirty="0">
                          <a:effectLst/>
                        </a:rPr>
                        <a:t>-86%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400" u="none" strike="noStrike" dirty="0">
                          <a:effectLst/>
                        </a:rPr>
                        <a:t>-0.6 k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620" marR="7620" marT="7620" marB="0" anchor="ctr"/>
                </a:tc>
                <a:extLst>
                  <a:ext uri="{0D108BD9-81ED-4DB2-BD59-A6C34878D82A}">
                    <a16:rowId xmlns:a16="http://schemas.microsoft.com/office/drawing/2014/main" val="3020851574"/>
                  </a:ext>
                </a:extLst>
              </a:tr>
              <a:tr h="532669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400" u="none" strike="noStrike" dirty="0">
                          <a:effectLst/>
                        </a:rPr>
                        <a:t>TEC-MA-10004458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0.19K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0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400" u="none" strike="noStrike" dirty="0">
                          <a:effectLst/>
                        </a:rPr>
                        <a:t>-100%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400" u="none" strike="noStrike" dirty="0">
                          <a:effectLst/>
                        </a:rPr>
                        <a:t>-0.2 k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620" marR="7620" marT="7620" marB="0" anchor="ctr"/>
                </a:tc>
                <a:extLst>
                  <a:ext uri="{0D108BD9-81ED-4DB2-BD59-A6C34878D82A}">
                    <a16:rowId xmlns:a16="http://schemas.microsoft.com/office/drawing/2014/main" val="1512736583"/>
                  </a:ext>
                </a:extLst>
              </a:tr>
            </a:tbl>
          </a:graphicData>
        </a:graphic>
      </p:graphicFrame>
      <p:sp>
        <p:nvSpPr>
          <p:cNvPr id="6" name="TextBox 5">
            <a:extLst>
              <a:ext uri="{FF2B5EF4-FFF2-40B4-BE49-F238E27FC236}">
                <a16:creationId xmlns:a16="http://schemas.microsoft.com/office/drawing/2014/main" id="{D216872B-682E-B244-B732-AD6D25F7069C}"/>
              </a:ext>
            </a:extLst>
          </p:cNvPr>
          <p:cNvSpPr txBox="1"/>
          <p:nvPr/>
        </p:nvSpPr>
        <p:spPr>
          <a:xfrm>
            <a:off x="269983" y="2048719"/>
            <a:ext cx="5424761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The Canon </a:t>
            </a:r>
            <a:r>
              <a:rPr lang="en-US" dirty="0" err="1"/>
              <a:t>imageCLASS</a:t>
            </a:r>
            <a:r>
              <a:rPr lang="en-US" dirty="0"/>
              <a:t> 2200 Advanced Copier experienced a complete sales loss in 2017, resulting in an estimated decline of approximately $8.4K, making it the largest product contributor to the overall profit drop.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2539760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3AA159E-36F3-88BC-AD0B-F3C24B7CDA7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>
            <a:extLst>
              <a:ext uri="{FF2B5EF4-FFF2-40B4-BE49-F238E27FC236}">
                <a16:creationId xmlns:a16="http://schemas.microsoft.com/office/drawing/2014/main" id="{0BABF38A-8A0D-492E-BD20-6CF4D46B50B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4"/>
          </a:xfrm>
          <a:prstGeom prst="rect">
            <a:avLst/>
          </a:prstGeom>
          <a:solidFill>
            <a:schemeClr val="bg2">
              <a:lumMod val="90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>
                  <a:lumMod val="65000"/>
                  <a:lumOff val="35000"/>
                </a:schemeClr>
              </a:solidFill>
              <a:latin typeface="AvenirNext LT Pro Medium" panose="020B0504020202020204" pitchFamily="34" charset="0"/>
            </a:endParaRP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BC526B7A-4801-4FD1-95C8-03AF22629E8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2">
            <a:alphaModFix amt="1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34400" y="0"/>
            <a:ext cx="3654612" cy="4575348"/>
          </a:xfrm>
          <a:prstGeom prst="rect">
            <a:avLst/>
          </a:prstGeom>
        </p:spPr>
      </p:pic>
      <p:sp useBgFill="1">
        <p:nvSpPr>
          <p:cNvPr id="16" name="Rectangle 15">
            <a:extLst>
              <a:ext uri="{FF2B5EF4-FFF2-40B4-BE49-F238E27FC236}">
                <a16:creationId xmlns:a16="http://schemas.microsoft.com/office/drawing/2014/main" id="{310E06F9-9F12-4D1B-92C0-4B30818D093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>
                  <a:lumMod val="65000"/>
                  <a:lumOff val="35000"/>
                </a:schemeClr>
              </a:solidFill>
              <a:latin typeface="AvenirNext LT Pro Medium" panose="020B0504020202020204" pitchFamily="34" charset="0"/>
            </a:endParaRP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8F5EFE88-F6A7-4B53-AF99-227DFC56A03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8" y="0"/>
            <a:ext cx="12188952" cy="6858000"/>
          </a:xfrm>
          <a:prstGeom prst="rect">
            <a:avLst/>
          </a:prstGeom>
          <a:solidFill>
            <a:schemeClr val="bg2">
              <a:lumMod val="90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>
                  <a:lumMod val="65000"/>
                  <a:lumOff val="35000"/>
                </a:schemeClr>
              </a:solidFill>
              <a:latin typeface="AvenirNext LT Pro Medium" panose="020B0504020202020204" pitchFamily="34" charset="0"/>
            </a:endParaRPr>
          </a:p>
        </p:txBody>
      </p:sp>
      <p:grpSp>
        <p:nvGrpSpPr>
          <p:cNvPr id="20" name="Group 19">
            <a:extLst>
              <a:ext uri="{FF2B5EF4-FFF2-40B4-BE49-F238E27FC236}">
                <a16:creationId xmlns:a16="http://schemas.microsoft.com/office/drawing/2014/main" id="{BD08D52E-56C9-4654-9764-ADE6C0F0E30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4464881" y="0"/>
            <a:ext cx="7724071" cy="6858000"/>
            <a:chOff x="4464881" y="0"/>
            <a:chExt cx="7724071" cy="6858000"/>
          </a:xfrm>
        </p:grpSpPr>
        <p:pic>
          <p:nvPicPr>
            <p:cNvPr id="21" name="Picture 20">
              <a:extLst>
                <a:ext uri="{FF2B5EF4-FFF2-40B4-BE49-F238E27FC236}">
                  <a16:creationId xmlns:a16="http://schemas.microsoft.com/office/drawing/2014/main" id="{74CC9B0D-E068-488B-A88F-E69A1B690BA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PicPr>
              <a:picLocks noChangeAspect="1"/>
            </p:cNvPic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PicPr>
          <p:blipFill>
            <a:blip r:embed="rId3">
              <a:duotone>
                <a:schemeClr val="accent6">
                  <a:shade val="45000"/>
                  <a:satMod val="135000"/>
                </a:schemeClr>
                <a:prstClr val="white"/>
              </a:duotone>
              <a:alphaModFix amt="15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073255" y="0"/>
              <a:ext cx="5115697" cy="6858000"/>
            </a:xfrm>
            <a:prstGeom prst="rect">
              <a:avLst/>
            </a:prstGeom>
          </p:spPr>
        </p:pic>
        <p:pic>
          <p:nvPicPr>
            <p:cNvPr id="22" name="Picture 21">
              <a:extLst>
                <a:ext uri="{FF2B5EF4-FFF2-40B4-BE49-F238E27FC236}">
                  <a16:creationId xmlns:a16="http://schemas.microsoft.com/office/drawing/2014/main" id="{06E2E1E2-C875-4AF6-A6C4-67E7EA04892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PicPr>
              <a:picLocks noChangeAspect="1"/>
            </p:cNvPic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PicPr>
          <p:blipFill>
            <a:blip r:embed="rId4">
              <a:duotone>
                <a:schemeClr val="accent6">
                  <a:shade val="45000"/>
                  <a:satMod val="135000"/>
                </a:schemeClr>
                <a:prstClr val="white"/>
              </a:duotone>
              <a:alphaModFix amt="7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 rot="16200000">
              <a:off x="5412135" y="-947254"/>
              <a:ext cx="5562598" cy="7457106"/>
            </a:xfrm>
            <a:prstGeom prst="rect">
              <a:avLst/>
            </a:prstGeom>
            <a:effectLst>
              <a:softEdge rad="0"/>
            </a:effectLst>
          </p:spPr>
        </p:pic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F8977474-E13B-878A-039E-0757A6D0F9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5902" y="365969"/>
            <a:ext cx="8873428" cy="929433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z="2800" dirty="0">
                <a:latin typeface="Aptos Black" panose="020B0004020202020204" pitchFamily="34" charset="0"/>
              </a:rPr>
              <a:t>Who Caused Dropped in Central and South Region?</a:t>
            </a: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43B532E1-6EC1-80F3-D3B6-7FC8BDAE0AB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8788601"/>
              </p:ext>
            </p:extLst>
          </p:nvPr>
        </p:nvGraphicFramePr>
        <p:xfrm>
          <a:off x="5814390" y="1544544"/>
          <a:ext cx="6179903" cy="3933616"/>
        </p:xfrm>
        <a:graphic>
          <a:graphicData uri="http://schemas.openxmlformats.org/drawingml/2006/table">
            <a:tbl>
              <a:tblPr>
                <a:tableStyleId>{9D7B26C5-4107-4FEC-AEDC-1716B250A1EF}</a:tableStyleId>
              </a:tblPr>
              <a:tblGrid>
                <a:gridCol w="1174158">
                  <a:extLst>
                    <a:ext uri="{9D8B030D-6E8A-4147-A177-3AD203B41FA5}">
                      <a16:colId xmlns:a16="http://schemas.microsoft.com/office/drawing/2014/main" val="1053592977"/>
                    </a:ext>
                  </a:extLst>
                </a:gridCol>
                <a:gridCol w="1298208">
                  <a:extLst>
                    <a:ext uri="{9D8B030D-6E8A-4147-A177-3AD203B41FA5}">
                      <a16:colId xmlns:a16="http://schemas.microsoft.com/office/drawing/2014/main" val="3281339804"/>
                    </a:ext>
                  </a:extLst>
                </a:gridCol>
                <a:gridCol w="925747">
                  <a:extLst>
                    <a:ext uri="{9D8B030D-6E8A-4147-A177-3AD203B41FA5}">
                      <a16:colId xmlns:a16="http://schemas.microsoft.com/office/drawing/2014/main" val="2352729208"/>
                    </a:ext>
                  </a:extLst>
                </a:gridCol>
                <a:gridCol w="1265964">
                  <a:extLst>
                    <a:ext uri="{9D8B030D-6E8A-4147-A177-3AD203B41FA5}">
                      <a16:colId xmlns:a16="http://schemas.microsoft.com/office/drawing/2014/main" val="877257437"/>
                    </a:ext>
                  </a:extLst>
                </a:gridCol>
                <a:gridCol w="1515826">
                  <a:extLst>
                    <a:ext uri="{9D8B030D-6E8A-4147-A177-3AD203B41FA5}">
                      <a16:colId xmlns:a16="http://schemas.microsoft.com/office/drawing/2014/main" val="171063828"/>
                    </a:ext>
                  </a:extLst>
                </a:gridCol>
              </a:tblGrid>
              <a:tr h="983404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600" u="none" strike="noStrike" dirty="0" err="1">
                          <a:effectLst/>
                        </a:rPr>
                        <a:t>Segmant</a:t>
                      </a:r>
                      <a:endParaRPr lang="en-US" sz="1600" b="1" i="0" u="none" strike="noStrike" dirty="0">
                        <a:solidFill>
                          <a:srgbClr val="FFFFFF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600" u="none" strike="noStrike" dirty="0">
                          <a:effectLst/>
                        </a:rPr>
                        <a:t>2016</a:t>
                      </a:r>
                      <a:endParaRPr lang="en-US" sz="1600" b="1" i="0" u="none" strike="noStrike" dirty="0">
                        <a:solidFill>
                          <a:srgbClr val="FFFFFF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600" u="none" strike="noStrike" dirty="0">
                          <a:effectLst/>
                        </a:rPr>
                        <a:t>2017</a:t>
                      </a:r>
                      <a:endParaRPr lang="en-US" sz="1600" b="1" i="0" u="none" strike="noStrike" dirty="0">
                        <a:solidFill>
                          <a:srgbClr val="FFFFFF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600" u="none" strike="noStrike" dirty="0">
                          <a:effectLst/>
                        </a:rPr>
                        <a:t>Growth rate </a:t>
                      </a:r>
                      <a:endParaRPr lang="en-US" sz="1600" b="1" i="0" u="none" strike="noStrike" dirty="0">
                        <a:solidFill>
                          <a:srgbClr val="FFFFFF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600" u="none" strike="noStrike" dirty="0">
                          <a:effectLst/>
                        </a:rPr>
                        <a:t>Profit Difference</a:t>
                      </a:r>
                      <a:endParaRPr lang="en-US" sz="1600" b="1" i="0" u="none" strike="noStrike" dirty="0">
                        <a:solidFill>
                          <a:srgbClr val="FFFFFF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620" marR="7620" marT="7620" marB="0" anchor="ctr"/>
                </a:tc>
                <a:extLst>
                  <a:ext uri="{0D108BD9-81ED-4DB2-BD59-A6C34878D82A}">
                    <a16:rowId xmlns:a16="http://schemas.microsoft.com/office/drawing/2014/main" val="1513831664"/>
                  </a:ext>
                </a:extLst>
              </a:tr>
              <a:tr h="983404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600" u="none" strike="noStrike" dirty="0">
                          <a:effectLst/>
                        </a:rPr>
                        <a:t>Consumer</a:t>
                      </a:r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500" b="1" u="none" strike="noStrike" dirty="0">
                          <a:effectLst/>
                        </a:rPr>
                        <a:t>15.91K</a:t>
                      </a:r>
                      <a:endParaRPr lang="en-US" sz="15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500" b="1" u="none" strike="noStrike" dirty="0">
                          <a:effectLst/>
                        </a:rPr>
                        <a:t>10.30K</a:t>
                      </a:r>
                      <a:endParaRPr lang="en-US" sz="15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500" b="1" u="none" strike="noStrike">
                          <a:effectLst/>
                        </a:rPr>
                        <a:t>-35%</a:t>
                      </a:r>
                      <a:endParaRPr lang="en-US" sz="1500" b="1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500" b="1" u="none" strike="noStrike">
                          <a:effectLst/>
                        </a:rPr>
                        <a:t>-5.62K</a:t>
                      </a:r>
                      <a:endParaRPr lang="en-US" sz="1500" b="1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620" marR="7620" marT="7620" marB="0" anchor="ctr"/>
                </a:tc>
                <a:extLst>
                  <a:ext uri="{0D108BD9-81ED-4DB2-BD59-A6C34878D82A}">
                    <a16:rowId xmlns:a16="http://schemas.microsoft.com/office/drawing/2014/main" val="2278222517"/>
                  </a:ext>
                </a:extLst>
              </a:tr>
              <a:tr h="983404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800" u="none" strike="noStrike" dirty="0">
                          <a:solidFill>
                            <a:schemeClr val="bg1"/>
                          </a:solidFill>
                          <a:effectLst/>
                        </a:rPr>
                        <a:t>Corporate</a:t>
                      </a:r>
                      <a:endParaRPr lang="en-US" sz="1800" b="0" i="0" u="none" strike="noStrike" dirty="0">
                        <a:solidFill>
                          <a:schemeClr val="bg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620" marR="7620" marT="7620" marB="0" anchor="ctr"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600" b="1" u="none" strike="noStrike">
                          <a:solidFill>
                            <a:schemeClr val="bg1"/>
                          </a:solidFill>
                          <a:effectLst/>
                        </a:rPr>
                        <a:t>16.54K</a:t>
                      </a:r>
                      <a:endParaRPr lang="en-US" sz="1600" b="1" i="0" u="none" strike="noStrike">
                        <a:solidFill>
                          <a:schemeClr val="bg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620" marR="7620" marT="7620" marB="0" anchor="ctr"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600" b="1" u="none" strike="noStrike">
                          <a:solidFill>
                            <a:schemeClr val="bg1"/>
                          </a:solidFill>
                          <a:effectLst/>
                        </a:rPr>
                        <a:t>2.41K</a:t>
                      </a:r>
                      <a:endParaRPr lang="en-US" sz="1600" b="1" i="0" u="none" strike="noStrike">
                        <a:solidFill>
                          <a:schemeClr val="bg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620" marR="7620" marT="7620" marB="0" anchor="ctr"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600" b="1" u="none" strike="noStrike" dirty="0">
                          <a:solidFill>
                            <a:schemeClr val="bg1"/>
                          </a:solidFill>
                          <a:effectLst/>
                        </a:rPr>
                        <a:t>-85%</a:t>
                      </a:r>
                      <a:endParaRPr lang="en-US" sz="1600" b="1" i="0" u="none" strike="noStrike" dirty="0">
                        <a:solidFill>
                          <a:schemeClr val="bg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620" marR="7620" marT="7620" marB="0" anchor="ctr"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600" b="1" u="none" strike="noStrike" dirty="0">
                          <a:solidFill>
                            <a:schemeClr val="bg1"/>
                          </a:solidFill>
                          <a:effectLst/>
                        </a:rPr>
                        <a:t>-14.13K</a:t>
                      </a:r>
                      <a:endParaRPr lang="en-US" sz="1600" b="1" i="0" u="none" strike="noStrike" dirty="0">
                        <a:solidFill>
                          <a:schemeClr val="bg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620" marR="7620" marT="7620" marB="0" anchor="ctr">
                    <a:solidFill>
                      <a:srgbClr val="FF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79837848"/>
                  </a:ext>
                </a:extLst>
              </a:tr>
              <a:tr h="983404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600" u="none" strike="noStrike" dirty="0">
                          <a:effectLst/>
                        </a:rPr>
                        <a:t>Home Office</a:t>
                      </a:r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500" b="1" u="none" strike="noStrike">
                          <a:effectLst/>
                        </a:rPr>
                        <a:t>5.15K</a:t>
                      </a:r>
                      <a:endParaRPr lang="en-US" sz="1500" b="1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500" b="1" u="none" strike="noStrike">
                          <a:effectLst/>
                        </a:rPr>
                        <a:t>3.69K</a:t>
                      </a:r>
                      <a:endParaRPr lang="en-US" sz="1500" b="1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500" b="1" u="none" strike="noStrike">
                          <a:effectLst/>
                        </a:rPr>
                        <a:t>-28%</a:t>
                      </a:r>
                      <a:endParaRPr lang="en-US" sz="1500" b="1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500" b="1" u="none" strike="noStrike" dirty="0">
                          <a:effectLst/>
                        </a:rPr>
                        <a:t>-1.45K</a:t>
                      </a:r>
                      <a:endParaRPr lang="en-US" sz="15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620" marR="7620" marT="7620" marB="0" anchor="ctr"/>
                </a:tc>
                <a:extLst>
                  <a:ext uri="{0D108BD9-81ED-4DB2-BD59-A6C34878D82A}">
                    <a16:rowId xmlns:a16="http://schemas.microsoft.com/office/drawing/2014/main" val="3756828967"/>
                  </a:ext>
                </a:extLst>
              </a:tr>
            </a:tbl>
          </a:graphicData>
        </a:graphic>
      </p:graphicFrame>
      <p:graphicFrame>
        <p:nvGraphicFramePr>
          <p:cNvPr id="5" name="Chart 4">
            <a:extLst>
              <a:ext uri="{FF2B5EF4-FFF2-40B4-BE49-F238E27FC236}">
                <a16:creationId xmlns:a16="http://schemas.microsoft.com/office/drawing/2014/main" id="{EE153E24-D9E3-101B-D31D-ED9D75F42F18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736141688"/>
              </p:ext>
            </p:extLst>
          </p:nvPr>
        </p:nvGraphicFramePr>
        <p:xfrm>
          <a:off x="269986" y="1501292"/>
          <a:ext cx="5326893" cy="3855416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</p:spTree>
    <p:extLst>
      <p:ext uri="{BB962C8B-B14F-4D97-AF65-F5344CB8AC3E}">
        <p14:creationId xmlns:p14="http://schemas.microsoft.com/office/powerpoint/2010/main" val="272083927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6AACB86-0083-115B-C0EC-027F917E4ED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Rectangle 26">
            <a:extLst>
              <a:ext uri="{FF2B5EF4-FFF2-40B4-BE49-F238E27FC236}">
                <a16:creationId xmlns:a16="http://schemas.microsoft.com/office/drawing/2014/main" id="{0BABF38A-8A0D-492E-BD20-6CF4D46B50B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4"/>
          </a:xfrm>
          <a:prstGeom prst="rect">
            <a:avLst/>
          </a:prstGeom>
          <a:solidFill>
            <a:schemeClr val="bg2">
              <a:lumMod val="90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>
                  <a:lumMod val="65000"/>
                  <a:lumOff val="35000"/>
                </a:schemeClr>
              </a:solidFill>
              <a:latin typeface="AvenirNext LT Pro Medium" panose="020B0504020202020204" pitchFamily="34" charset="0"/>
            </a:endParaRPr>
          </a:p>
        </p:txBody>
      </p:sp>
      <p:pic>
        <p:nvPicPr>
          <p:cNvPr id="29" name="Picture 28">
            <a:extLst>
              <a:ext uri="{FF2B5EF4-FFF2-40B4-BE49-F238E27FC236}">
                <a16:creationId xmlns:a16="http://schemas.microsoft.com/office/drawing/2014/main" id="{BC526B7A-4801-4FD1-95C8-03AF22629E8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2">
            <a:alphaModFix amt="1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34400" y="0"/>
            <a:ext cx="3654612" cy="4575348"/>
          </a:xfrm>
          <a:prstGeom prst="rect">
            <a:avLst/>
          </a:prstGeom>
        </p:spPr>
      </p:pic>
      <p:sp useBgFill="1">
        <p:nvSpPr>
          <p:cNvPr id="31" name="Rectangle 30">
            <a:extLst>
              <a:ext uri="{FF2B5EF4-FFF2-40B4-BE49-F238E27FC236}">
                <a16:creationId xmlns:a16="http://schemas.microsoft.com/office/drawing/2014/main" id="{297F7562-DBE2-4729-835D-1486BBB4373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8" y="-2627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>
                  <a:lumMod val="65000"/>
                  <a:lumOff val="35000"/>
                </a:schemeClr>
              </a:solidFill>
              <a:latin typeface="AvenirNext LT Pro Medium" panose="020B0504020202020204" pitchFamily="34" charset="0"/>
            </a:endParaRPr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DCE0245F-7D4D-413E-940B-1D9D9A17116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2627"/>
            <a:ext cx="12188952" cy="6858000"/>
          </a:xfrm>
          <a:prstGeom prst="rect">
            <a:avLst/>
          </a:prstGeom>
          <a:solidFill>
            <a:schemeClr val="bg2">
              <a:lumMod val="90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>
                  <a:lumMod val="65000"/>
                  <a:lumOff val="35000"/>
                </a:schemeClr>
              </a:solidFill>
              <a:latin typeface="AvenirNext LT Pro Medium" panose="020B0504020202020204" pitchFamily="34" charset="0"/>
            </a:endParaRPr>
          </a:p>
        </p:txBody>
      </p:sp>
      <p:grpSp>
        <p:nvGrpSpPr>
          <p:cNvPr id="35" name="Group 34">
            <a:extLst>
              <a:ext uri="{FF2B5EF4-FFF2-40B4-BE49-F238E27FC236}">
                <a16:creationId xmlns:a16="http://schemas.microsoft.com/office/drawing/2014/main" id="{5BB11B77-16CE-4796-9677-F0ED67FCEC1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flipH="1">
            <a:off x="0" y="0"/>
            <a:ext cx="7724071" cy="6858000"/>
            <a:chOff x="4464881" y="0"/>
            <a:chExt cx="7724071" cy="6858000"/>
          </a:xfrm>
        </p:grpSpPr>
        <p:pic>
          <p:nvPicPr>
            <p:cNvPr id="36" name="Picture 35">
              <a:extLst>
                <a:ext uri="{FF2B5EF4-FFF2-40B4-BE49-F238E27FC236}">
                  <a16:creationId xmlns:a16="http://schemas.microsoft.com/office/drawing/2014/main" id="{EF26510D-AF6F-45BA-9996-9EA0F149D09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PicPr>
              <a:picLocks noChangeAspect="1"/>
            </p:cNvPic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PicPr>
          <p:blipFill>
            <a:blip r:embed="rId3">
              <a:duotone>
                <a:schemeClr val="accent6">
                  <a:shade val="45000"/>
                  <a:satMod val="135000"/>
                </a:schemeClr>
                <a:prstClr val="white"/>
              </a:duotone>
              <a:alphaModFix amt="15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073255" y="0"/>
              <a:ext cx="5115697" cy="6858000"/>
            </a:xfrm>
            <a:prstGeom prst="rect">
              <a:avLst/>
            </a:prstGeom>
          </p:spPr>
        </p:pic>
        <p:pic>
          <p:nvPicPr>
            <p:cNvPr id="37" name="Picture 36">
              <a:extLst>
                <a:ext uri="{FF2B5EF4-FFF2-40B4-BE49-F238E27FC236}">
                  <a16:creationId xmlns:a16="http://schemas.microsoft.com/office/drawing/2014/main" id="{5E04EA3F-927A-42F5-96EF-44DCE97863D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PicPr>
              <a:picLocks noChangeAspect="1"/>
            </p:cNvPic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PicPr>
          <p:blipFill>
            <a:blip r:embed="rId4">
              <a:duotone>
                <a:schemeClr val="accent6">
                  <a:shade val="45000"/>
                  <a:satMod val="135000"/>
                </a:schemeClr>
                <a:prstClr val="white"/>
              </a:duotone>
              <a:alphaModFix amt="7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 rot="16200000">
              <a:off x="5412135" y="-947254"/>
              <a:ext cx="5562598" cy="7457106"/>
            </a:xfrm>
            <a:prstGeom prst="rect">
              <a:avLst/>
            </a:prstGeom>
            <a:effectLst>
              <a:softEdge rad="0"/>
            </a:effectLst>
          </p:spPr>
        </p:pic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812E3C8E-E9BF-37FF-38FC-91048FBB80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0922" y="265401"/>
            <a:ext cx="9629726" cy="830256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z="3200" b="1" dirty="0">
                <a:latin typeface="Aptos Black" panose="020B0004020202020204" pitchFamily="34" charset="0"/>
              </a:rPr>
              <a:t>Profit </a:t>
            </a:r>
            <a:r>
              <a:rPr lang="en-US" sz="3200" dirty="0">
                <a:latin typeface="Aptos Black" panose="020B0004020202020204" pitchFamily="34" charset="0"/>
              </a:rPr>
              <a:t>Decline</a:t>
            </a:r>
            <a:r>
              <a:rPr lang="en-US" sz="3200" b="1" dirty="0">
                <a:latin typeface="Aptos Black" panose="020B0004020202020204" pitchFamily="34" charset="0"/>
              </a:rPr>
              <a:t> Accelerated During Q4 2017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1089BB4-3791-90F2-1084-AB984E4B75DB}"/>
              </a:ext>
            </a:extLst>
          </p:cNvPr>
          <p:cNvSpPr txBox="1"/>
          <p:nvPr/>
        </p:nvSpPr>
        <p:spPr>
          <a:xfrm>
            <a:off x="396160" y="4575348"/>
            <a:ext cx="8879645" cy="1851452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pPr>
              <a:lnSpc>
                <a:spcPct val="110000"/>
              </a:lnSpc>
              <a:spcBef>
                <a:spcPts val="1000"/>
              </a:spcBef>
              <a:buClr>
                <a:schemeClr val="accent1"/>
              </a:buClr>
            </a:pPr>
            <a:r>
              <a:rPr lang="en-US" sz="2200" dirty="0"/>
              <a:t>From October to December the Profit is Dropped in Central and south Region with 28.3K Dollar.  </a:t>
            </a:r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9345316F-EEFB-377E-D0E7-CEE0D1B266DC}"/>
              </a:ext>
            </a:extLst>
          </p:cNvPr>
          <p:cNvGraphicFramePr>
            <a:graphicFrameLocks noGrp="1"/>
          </p:cNvGraphicFramePr>
          <p:nvPr/>
        </p:nvGraphicFramePr>
        <p:xfrm>
          <a:off x="5791200" y="3346450"/>
          <a:ext cx="609600" cy="16764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609600">
                  <a:extLst>
                    <a:ext uri="{9D8B030D-6E8A-4147-A177-3AD203B41FA5}">
                      <a16:colId xmlns:a16="http://schemas.microsoft.com/office/drawing/2014/main" val="2612305022"/>
                    </a:ext>
                  </a:extLst>
                </a:gridCol>
              </a:tblGrid>
              <a:tr h="16764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0" marT="0" marB="0" anchor="b"/>
                </a:tc>
                <a:extLst>
                  <a:ext uri="{0D108BD9-81ED-4DB2-BD59-A6C34878D82A}">
                    <a16:rowId xmlns:a16="http://schemas.microsoft.com/office/drawing/2014/main" val="2076904950"/>
                  </a:ext>
                </a:extLst>
              </a:tr>
            </a:tbl>
          </a:graphicData>
        </a:graphic>
      </p:graphicFrame>
      <p:graphicFrame>
        <p:nvGraphicFramePr>
          <p:cNvPr id="5" name="Chart 4">
            <a:extLst>
              <a:ext uri="{FF2B5EF4-FFF2-40B4-BE49-F238E27FC236}">
                <a16:creationId xmlns:a16="http://schemas.microsoft.com/office/drawing/2014/main" id="{71316283-8045-9F59-F03B-E0FA7E71D697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191473554"/>
              </p:ext>
            </p:extLst>
          </p:nvPr>
        </p:nvGraphicFramePr>
        <p:xfrm>
          <a:off x="263917" y="1204065"/>
          <a:ext cx="11661118" cy="3154467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</p:spTree>
    <p:extLst>
      <p:ext uri="{BB962C8B-B14F-4D97-AF65-F5344CB8AC3E}">
        <p14:creationId xmlns:p14="http://schemas.microsoft.com/office/powerpoint/2010/main" val="17983752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55A68525-4EE8-2011-96F8-27C7464A933D}"/>
              </a:ext>
            </a:extLst>
          </p:cNvPr>
          <p:cNvSpPr txBox="1"/>
          <p:nvPr/>
        </p:nvSpPr>
        <p:spPr>
          <a:xfrm>
            <a:off x="411892" y="337751"/>
            <a:ext cx="1066800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latin typeface="Aptos Black" panose="020B0004020202020204" pitchFamily="34" charset="0"/>
              </a:rPr>
              <a:t>One $17.5K Order in 2016 Inflated the Baseline — Without It, Indiana Shows Growth, Not Decline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E65FEA5-7862-126F-983B-FE86680F9A87}"/>
              </a:ext>
            </a:extLst>
          </p:cNvPr>
          <p:cNvSpPr txBox="1"/>
          <p:nvPr/>
        </p:nvSpPr>
        <p:spPr>
          <a:xfrm>
            <a:off x="502508" y="1202724"/>
            <a:ext cx="1057738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/>
              <a:t>On October 2, 2016, Corporate client </a:t>
            </a:r>
            <a:r>
              <a:rPr lang="en-US" sz="1600" b="1" dirty="0"/>
              <a:t>Tamara Chand</a:t>
            </a:r>
            <a:r>
              <a:rPr lang="en-US" sz="1600" dirty="0"/>
              <a:t> placed a single order for a Canon copier ($17.5K sales, </a:t>
            </a:r>
            <a:r>
              <a:rPr lang="en-US" sz="1600" b="1" dirty="0"/>
              <a:t>$8.4K profit</a:t>
            </a:r>
            <a:r>
              <a:rPr lang="en-US" sz="1600" dirty="0"/>
              <a:t>) in Lafayette, Indiana — then made </a:t>
            </a:r>
            <a:r>
              <a:rPr lang="en-US" sz="1600" b="1" dirty="0"/>
              <a:t>zero purchases in 2017</a:t>
            </a:r>
            <a:endParaRPr lang="en-US" sz="1600" dirty="0"/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9B8E140F-91E8-E954-4695-2075F98F6DC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82243631"/>
              </p:ext>
            </p:extLst>
          </p:nvPr>
        </p:nvGraphicFramePr>
        <p:xfrm>
          <a:off x="571157" y="2037719"/>
          <a:ext cx="10349470" cy="3054592"/>
        </p:xfrm>
        <a:graphic>
          <a:graphicData uri="http://schemas.openxmlformats.org/drawingml/2006/table">
            <a:tbl>
              <a:tblPr firstRow="1" bandRow="1">
                <a:tableStyleId>{3B4B98B0-60AC-42C2-AFA5-B58CD77FA1E5}</a:tableStyleId>
              </a:tblPr>
              <a:tblGrid>
                <a:gridCol w="6971957">
                  <a:extLst>
                    <a:ext uri="{9D8B030D-6E8A-4147-A177-3AD203B41FA5}">
                      <a16:colId xmlns:a16="http://schemas.microsoft.com/office/drawing/2014/main" val="2844886078"/>
                    </a:ext>
                  </a:extLst>
                </a:gridCol>
                <a:gridCol w="3377513">
                  <a:extLst>
                    <a:ext uri="{9D8B030D-6E8A-4147-A177-3AD203B41FA5}">
                      <a16:colId xmlns:a16="http://schemas.microsoft.com/office/drawing/2014/main" val="1423763899"/>
                    </a:ext>
                  </a:extLst>
                </a:gridCol>
              </a:tblGrid>
              <a:tr h="603628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dirty="0"/>
                        <a:t>Metric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Value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055225849"/>
                  </a:ext>
                </a:extLst>
              </a:tr>
              <a:tr h="603628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Her order's share of Indiana's entire 2016 Copiers profit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b="1">
                          <a:solidFill>
                            <a:schemeClr val="tx1"/>
                          </a:solidFill>
                        </a:rPr>
                        <a:t>91%</a:t>
                      </a:r>
                      <a:endParaRPr lang="en-US">
                        <a:solidFill>
                          <a:schemeClr val="tx1"/>
                        </a:solidFill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683520141"/>
                  </a:ext>
                </a:extLst>
              </a:tr>
              <a:tr h="618273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Her order's share of the Corporate segment's total 2016→2017 loss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b="1">
                          <a:solidFill>
                            <a:schemeClr val="tx1"/>
                          </a:solidFill>
                        </a:rPr>
                        <a:t>59%</a:t>
                      </a:r>
                      <a:endParaRPr lang="en-US">
                        <a:solidFill>
                          <a:schemeClr val="tx1"/>
                        </a:solidFill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802492608"/>
                  </a:ext>
                </a:extLst>
              </a:tr>
              <a:tr h="603628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Indiana's growth rate </a:t>
                      </a:r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excluding</a:t>
                      </a:r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 this one order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+159%</a:t>
                      </a:r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dirty="0"/>
                        <a:t>(vs. -51% actual)</a:t>
                      </a:r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694048023"/>
                  </a:ext>
                </a:extLst>
              </a:tr>
              <a:tr h="603628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Her repeat orders in 2017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876651921"/>
                  </a:ext>
                </a:extLst>
              </a:tr>
            </a:tbl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76991121-54E9-EDBE-19E1-3EBC28EDED8D}"/>
              </a:ext>
            </a:extLst>
          </p:cNvPr>
          <p:cNvSpPr txBox="1"/>
          <p:nvPr/>
        </p:nvSpPr>
        <p:spPr>
          <a:xfrm>
            <a:off x="571157" y="5738266"/>
            <a:ext cx="1077603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A single, </a:t>
            </a:r>
            <a:r>
              <a:rPr lang="en-US" sz="1600" dirty="0"/>
              <a:t>non-recurring</a:t>
            </a:r>
            <a:r>
              <a:rPr lang="en-US" dirty="0"/>
              <a:t> transaction created an artificially high 2016 baseline. Once removed, Indiana's underlying trend is positive growth, not decline.</a:t>
            </a:r>
          </a:p>
        </p:txBody>
      </p:sp>
    </p:spTree>
    <p:extLst>
      <p:ext uri="{BB962C8B-B14F-4D97-AF65-F5344CB8AC3E}">
        <p14:creationId xmlns:p14="http://schemas.microsoft.com/office/powerpoint/2010/main" val="275788499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652885-D488-1456-E73D-8A9FD466753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8694" y="365761"/>
            <a:ext cx="10895106" cy="663970"/>
          </a:xfrm>
        </p:spPr>
        <p:txBody>
          <a:bodyPr anchor="t">
            <a:normAutofit/>
          </a:bodyPr>
          <a:lstStyle/>
          <a:p>
            <a:pPr algn="ctr"/>
            <a:r>
              <a:rPr lang="en-US" sz="3200" dirty="0">
                <a:latin typeface="Aptos Black" panose="020B0004020202020204" pitchFamily="34" charset="0"/>
              </a:rPr>
              <a:t> Conclusion &amp; Recommendations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8D01A75-49F9-4EF1-6F16-AED6278D241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52718" y="1155865"/>
            <a:ext cx="11486563" cy="1010688"/>
          </a:xfrm>
        </p:spPr>
        <p:txBody>
          <a:bodyPr>
            <a:normAutofit/>
          </a:bodyPr>
          <a:lstStyle/>
          <a:p>
            <a:r>
              <a:rPr lang="en-US" sz="2000" b="1" dirty="0"/>
              <a:t>Profit dropped 62% </a:t>
            </a:r>
            <a:r>
              <a:rPr lang="en-US" sz="2000" dirty="0"/>
              <a:t>in Central and 50% in South (2016→2017) — driven primarily by a single outlier transaction in the Corporate segment (see Why), not a broad market decline.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D613C21-ADA7-5A3B-9887-7CC73389122D}"/>
              </a:ext>
            </a:extLst>
          </p:cNvPr>
          <p:cNvSpPr txBox="1"/>
          <p:nvPr/>
        </p:nvSpPr>
        <p:spPr>
          <a:xfrm>
            <a:off x="304235" y="1870317"/>
            <a:ext cx="11049565" cy="38318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dirty="0">
                <a:latin typeface="Aptos Black" panose="020B0004020202020204" pitchFamily="34" charset="0"/>
              </a:rPr>
              <a:t>Four Actions to Address the Root Cause and Prevent Recurrence</a:t>
            </a:r>
            <a:endParaRPr lang="ar-EG" b="1" dirty="0">
              <a:latin typeface="Aptos Black" panose="020B000402020202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/>
              <a:t>Re-engage the client</a:t>
            </a:r>
            <a:r>
              <a:rPr lang="en-US" dirty="0"/>
              <a:t> — Reach out to Tamara Chand and similar high-value Corporate accounts who placed large one-time orders and didn't return; a single reorder could reverse a meaningful share of the Corporate segment's loss. </a:t>
            </a:r>
            <a:endParaRPr lang="ar-EG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/>
              <a:t>Flag single-order concentration risk</a:t>
            </a:r>
            <a:r>
              <a:rPr lang="en-US" dirty="0"/>
              <a:t> — Build a standard check that identifies when one transaction represents &gt;20% of a segment/category's profit, so future YoY comparisons aren't distorted by outlier orders. </a:t>
            </a:r>
            <a:endParaRPr lang="ar-EG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/>
              <a:t>Investigate Furniture separately</a:t>
            </a:r>
            <a:r>
              <a:rPr lang="en-US" dirty="0"/>
              <a:t> — Furniture turned from </a:t>
            </a:r>
            <a:r>
              <a:rPr lang="ar-EG" dirty="0"/>
              <a:t>)</a:t>
            </a:r>
            <a:r>
              <a:rPr lang="en-US" dirty="0"/>
              <a:t>+$2.9K</a:t>
            </a:r>
            <a:r>
              <a:rPr lang="ar-EG" dirty="0"/>
              <a:t>(</a:t>
            </a:r>
            <a:r>
              <a:rPr lang="en-US" dirty="0"/>
              <a:t> to </a:t>
            </a:r>
            <a:r>
              <a:rPr lang="ar-EG" dirty="0"/>
              <a:t>)</a:t>
            </a:r>
            <a:r>
              <a:rPr lang="en-US" b="1" dirty="0"/>
              <a:t>-$1.9K </a:t>
            </a:r>
            <a:r>
              <a:rPr lang="ar-EG" b="1" dirty="0"/>
              <a:t>(</a:t>
            </a:r>
            <a:r>
              <a:rPr lang="en-US" b="1" dirty="0"/>
              <a:t>profit</a:t>
            </a:r>
            <a:r>
              <a:rPr lang="en-US" dirty="0"/>
              <a:t>, unrelated to the Tamara Chand order; this needs its own root cause analysis (likely pricing/discount-driven, not a single-client issue). </a:t>
            </a:r>
            <a:endParaRPr lang="ar-EG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/>
              <a:t>Re-run the regional comparison excluding outlier orders</a:t>
            </a:r>
            <a:r>
              <a:rPr lang="en-US" dirty="0"/>
              <a:t> — Before reporting "Central/South regions declined," recalculate growth rates with one-time large transactions excluded, to separate real trend from noise.</a:t>
            </a:r>
          </a:p>
        </p:txBody>
      </p:sp>
    </p:spTree>
    <p:extLst>
      <p:ext uri="{BB962C8B-B14F-4D97-AF65-F5344CB8AC3E}">
        <p14:creationId xmlns:p14="http://schemas.microsoft.com/office/powerpoint/2010/main" val="3511389771"/>
      </p:ext>
    </p:extLst>
  </p:cSld>
  <p:clrMapOvr>
    <a:masterClrMapping/>
  </p:clrMapOvr>
</p:sld>
</file>

<file path=ppt/theme/theme1.xml><?xml version="1.0" encoding="utf-8"?>
<a:theme xmlns:a="http://schemas.openxmlformats.org/drawingml/2006/main" name="DappledVTI">
  <a:themeElements>
    <a:clrScheme name="Custom 81">
      <a:dk1>
        <a:sysClr val="windowText" lastClr="000000"/>
      </a:dk1>
      <a:lt1>
        <a:sysClr val="window" lastClr="FFFFFF"/>
      </a:lt1>
      <a:dk2>
        <a:srgbClr val="21363B"/>
      </a:dk2>
      <a:lt2>
        <a:srgbClr val="F4F2F0"/>
      </a:lt2>
      <a:accent1>
        <a:srgbClr val="758468"/>
      </a:accent1>
      <a:accent2>
        <a:srgbClr val="B5A7AC"/>
      </a:accent2>
      <a:accent3>
        <a:srgbClr val="CC9C6F"/>
      </a:accent3>
      <a:accent4>
        <a:srgbClr val="767640"/>
      </a:accent4>
      <a:accent5>
        <a:srgbClr val="A5B295"/>
      </a:accent5>
      <a:accent6>
        <a:srgbClr val="C19DA7"/>
      </a:accent6>
      <a:hlink>
        <a:srgbClr val="D13D6E"/>
      </a:hlink>
      <a:folHlink>
        <a:srgbClr val="6C9D92"/>
      </a:folHlink>
    </a:clrScheme>
    <a:fontScheme name="Custom 67">
      <a:majorFont>
        <a:latin typeface="Sabon Next LT"/>
        <a:ea typeface=""/>
        <a:cs typeface=""/>
      </a:majorFont>
      <a:minorFont>
        <a:latin typeface="Avenir Next LT Pro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DappledVTI" id="{204FEFAB-F02B-4FE8-B509-C50A618B972D}" vid="{7EAEADA8-5A8E-45B2-B0E4-448EC7E7A94F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405</TotalTime>
  <Words>800</Words>
  <Application>Microsoft Office PowerPoint</Application>
  <PresentationFormat>Widescreen</PresentationFormat>
  <Paragraphs>198</Paragraphs>
  <Slides>13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21" baseType="lpstr">
      <vt:lpstr>Aptos</vt:lpstr>
      <vt:lpstr>Aptos Black</vt:lpstr>
      <vt:lpstr>Arial</vt:lpstr>
      <vt:lpstr>Avenir Next LT Pro</vt:lpstr>
      <vt:lpstr>AvenirNext LT Pro Medium</vt:lpstr>
      <vt:lpstr>Cairo</vt:lpstr>
      <vt:lpstr>Sabon Next LT</vt:lpstr>
      <vt:lpstr>DappledVTI</vt:lpstr>
      <vt:lpstr>Root Cause Analysis</vt:lpstr>
      <vt:lpstr>Problem Definition</vt:lpstr>
      <vt:lpstr>Where The Drop Happened in the Central and South Region?</vt:lpstr>
      <vt:lpstr>Where The Drop Happened in the Central and South Region?</vt:lpstr>
      <vt:lpstr>Where The Drop Happened in the Central and South Region?</vt:lpstr>
      <vt:lpstr>Where The Drop Happened in the Central and South Region?</vt:lpstr>
      <vt:lpstr>What  Categories Dropped in Central and South Region?</vt:lpstr>
      <vt:lpstr>What Tech Sub-Category Dropped in Central and South Region?</vt:lpstr>
      <vt:lpstr>Canon imageCLASS 2200 Was the Biggest Contributor to the Profit Drop</vt:lpstr>
      <vt:lpstr>Who Caused Dropped in Central and South Region?</vt:lpstr>
      <vt:lpstr>Profit Decline Accelerated During Q4 2017</vt:lpstr>
      <vt:lpstr>PowerPoint Presentation</vt:lpstr>
      <vt:lpstr> Conclusion &amp; Recommendations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Ahmed Gomaa</dc:creator>
  <cp:lastModifiedBy>Ahmed Gomaa</cp:lastModifiedBy>
  <cp:revision>38</cp:revision>
  <dcterms:created xsi:type="dcterms:W3CDTF">2025-08-31T23:33:41Z</dcterms:created>
  <dcterms:modified xsi:type="dcterms:W3CDTF">2026-07-04T13:49:04Z</dcterms:modified>
</cp:coreProperties>
</file>